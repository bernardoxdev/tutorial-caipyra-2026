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664200" cx="10071100"/>
  <p:notesSz cx="6858000" cy="9144000"/>
  <p:embeddedFontLst>
    <p:embeddedFont>
      <p:font typeface="Montserrat"/>
      <p:regular r:id="rId46"/>
      <p:bold r:id="rId47"/>
      <p:italic r:id="rId48"/>
      <p:boldItalic r:id="rId49"/>
    </p:embeddedFont>
    <p:embeddedFont>
      <p:font typeface="Cinzel ExtraBold"/>
      <p:bold r:id="rId50"/>
    </p:embeddedFont>
    <p:embeddedFont>
      <p:font typeface="Cinzel"/>
      <p:regular r:id="rId51"/>
      <p:bold r:id="rId52"/>
    </p:embeddedFont>
    <p:embeddedFont>
      <p:font typeface="Roboto Mono"/>
      <p:regular r:id="rId53"/>
      <p:bold r:id="rId54"/>
      <p:italic r:id="rId55"/>
      <p:boldItalic r:id="rId56"/>
    </p:embeddedFont>
    <p:embeddedFont>
      <p:font typeface="Comfortaa Medium"/>
      <p:regular r:id="rId57"/>
      <p:bold r:id="rId58"/>
    </p:embeddedFont>
    <p:embeddedFont>
      <p:font typeface="Comfortaa"/>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1" roundtripDataSignature="AMtx7mhprDFUyXfpSGGchRwxHDgYtepF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E93906-3FA2-46CB-AEBB-E21ABF86EF40}">
  <a:tblStyle styleId="{94E93906-3FA2-46CB-AEBB-E21ABF86EF4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Comfortaa-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inzel-regular.fntdata"/><Relationship Id="rId50" Type="http://schemas.openxmlformats.org/officeDocument/2006/relationships/font" Target="fonts/CinzelExtraBold-bold.fntdata"/><Relationship Id="rId53" Type="http://schemas.openxmlformats.org/officeDocument/2006/relationships/font" Target="fonts/RobotoMono-regular.fntdata"/><Relationship Id="rId52" Type="http://schemas.openxmlformats.org/officeDocument/2006/relationships/font" Target="fonts/Cinzel-bold.fntdata"/><Relationship Id="rId11" Type="http://schemas.openxmlformats.org/officeDocument/2006/relationships/slide" Target="slides/slide5.xml"/><Relationship Id="rId55" Type="http://schemas.openxmlformats.org/officeDocument/2006/relationships/font" Target="fonts/RobotoMono-italic.fntdata"/><Relationship Id="rId10" Type="http://schemas.openxmlformats.org/officeDocument/2006/relationships/slide" Target="slides/slide4.xml"/><Relationship Id="rId54" Type="http://schemas.openxmlformats.org/officeDocument/2006/relationships/font" Target="fonts/RobotoMono-bold.fntdata"/><Relationship Id="rId13" Type="http://schemas.openxmlformats.org/officeDocument/2006/relationships/slide" Target="slides/slide7.xml"/><Relationship Id="rId57" Type="http://schemas.openxmlformats.org/officeDocument/2006/relationships/font" Target="fonts/ComfortaaMedium-regular.fntdata"/><Relationship Id="rId12" Type="http://schemas.openxmlformats.org/officeDocument/2006/relationships/slide" Target="slides/slide6.xml"/><Relationship Id="rId56" Type="http://schemas.openxmlformats.org/officeDocument/2006/relationships/font" Target="fonts/RobotoMono-boldItalic.fntdata"/><Relationship Id="rId15" Type="http://schemas.openxmlformats.org/officeDocument/2006/relationships/slide" Target="slides/slide9.xml"/><Relationship Id="rId59" Type="http://schemas.openxmlformats.org/officeDocument/2006/relationships/font" Target="fonts/Comfortaa-regular.fntdata"/><Relationship Id="rId14" Type="http://schemas.openxmlformats.org/officeDocument/2006/relationships/slide" Target="slides/slide8.xml"/><Relationship Id="rId58" Type="http://schemas.openxmlformats.org/officeDocument/2006/relationships/font" Target="fonts/ComfortaaMedium-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39b10294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39b1029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39b10294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39b10294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411364e0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411364e0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411364e00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411364e0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39b102941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39b10294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Falar também sobre o grande paradigma do PLN, que é sua caracterização de contextos culturais, socioeconomicos e emocionais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39b102941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39b10294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39b102941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39b10294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39b102941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39b102941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39b102941_1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39b10294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39b102941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39b10294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39b102941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39b102941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39b102941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39b102941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5539bd19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5539bd19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411364e00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411364e0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411364e00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411364e0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411364e00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411364e0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8120daf28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8120daf2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39b102941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39b102941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39b102941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39b102941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39b102941_1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39b102941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5539bd19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5539bd19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39b102941_1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39b102941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5539bd192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5539bd19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5539bd192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5539bd19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39b102941_1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39b102941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5539bd192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5539bd19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39b102941_1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39b102941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5539bd192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5539bd1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39b102941_1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a39b102941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39b102941_1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39b102941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39b102941_1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39b102941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39b102941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39b102941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39b102941_1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39b102941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39b102941_1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39b102941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39b102941_1_1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39b102941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39b102941_1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39b102941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39b102941_1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39b102941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39b102941_1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a39b102941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39b102941_1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39b102941_1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1">
    <p:spTree>
      <p:nvGrpSpPr>
        <p:cNvPr id="9" name="Shape 9"/>
        <p:cNvGrpSpPr/>
        <p:nvPr/>
      </p:nvGrpSpPr>
      <p:grpSpPr>
        <a:xfrm>
          <a:off x="0" y="0"/>
          <a:ext cx="0" cy="0"/>
          <a:chOff x="0" y="0"/>
          <a:chExt cx="0" cy="0"/>
        </a:xfrm>
      </p:grpSpPr>
      <p:pic>
        <p:nvPicPr>
          <p:cNvPr id="10" name="Google Shape;10;g2b47a2659c2_0_128"/>
          <p:cNvPicPr preferRelativeResize="0"/>
          <p:nvPr/>
        </p:nvPicPr>
        <p:blipFill rotWithShape="1">
          <a:blip r:embed="rId2">
            <a:alphaModFix/>
          </a:blip>
          <a:srcRect b="0" l="49" r="39" t="0"/>
          <a:stretch/>
        </p:blipFill>
        <p:spPr>
          <a:xfrm>
            <a:off x="-27825" y="-18687"/>
            <a:ext cx="10126752" cy="5701574"/>
          </a:xfrm>
          <a:prstGeom prst="rect">
            <a:avLst/>
          </a:prstGeom>
          <a:noFill/>
          <a:ln>
            <a:noFill/>
          </a:ln>
        </p:spPr>
      </p:pic>
      <p:sp>
        <p:nvSpPr>
          <p:cNvPr id="11" name="Google Shape;11;g2b47a2659c2_0_128"/>
          <p:cNvSpPr txBox="1"/>
          <p:nvPr>
            <p:ph idx="12" type="sldNum"/>
          </p:nvPr>
        </p:nvSpPr>
        <p:spPr>
          <a:xfrm>
            <a:off x="9081593" y="5263645"/>
            <a:ext cx="604200" cy="4335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2" name="Shape 12"/>
        <p:cNvGrpSpPr/>
        <p:nvPr/>
      </p:nvGrpSpPr>
      <p:grpSpPr>
        <a:xfrm>
          <a:off x="0" y="0"/>
          <a:ext cx="0" cy="0"/>
          <a:chOff x="0" y="0"/>
          <a:chExt cx="0" cy="0"/>
        </a:xfrm>
      </p:grpSpPr>
      <p:sp>
        <p:nvSpPr>
          <p:cNvPr id="13" name="Google Shape;13;g2b47a2659c2_0_16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2b47a2659c2_0_16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g2b47a2659c2_0_16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6" name="Google Shape;16;g2b47a2659c2_0_160"/>
          <p:cNvPicPr preferRelativeResize="0"/>
          <p:nvPr/>
        </p:nvPicPr>
        <p:blipFill rotWithShape="1">
          <a:blip r:embed="rId2">
            <a:alphaModFix/>
          </a:blip>
          <a:srcRect b="0" l="0" r="0" t="0"/>
          <a:stretch/>
        </p:blipFill>
        <p:spPr>
          <a:xfrm>
            <a:off x="-50163" y="-28612"/>
            <a:ext cx="10171426" cy="57214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 Padrão">
  <p:cSld name="TITLE_AND_TWO_COLUMNS_1">
    <p:spTree>
      <p:nvGrpSpPr>
        <p:cNvPr id="17" name="Shape 17"/>
        <p:cNvGrpSpPr/>
        <p:nvPr/>
      </p:nvGrpSpPr>
      <p:grpSpPr>
        <a:xfrm>
          <a:off x="0" y="0"/>
          <a:ext cx="0" cy="0"/>
          <a:chOff x="0" y="0"/>
          <a:chExt cx="0" cy="0"/>
        </a:xfrm>
      </p:grpSpPr>
      <p:sp>
        <p:nvSpPr>
          <p:cNvPr id="18" name="Google Shape;18;g2b47a2659c2_0_131"/>
          <p:cNvSpPr txBox="1"/>
          <p:nvPr>
            <p:ph idx="12" type="sldNum"/>
          </p:nvPr>
        </p:nvSpPr>
        <p:spPr>
          <a:xfrm>
            <a:off x="9103915" y="5317504"/>
            <a:ext cx="604200" cy="3009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g2b47a2659c2_0_131"/>
          <p:cNvSpPr txBox="1"/>
          <p:nvPr/>
        </p:nvSpPr>
        <p:spPr>
          <a:xfrm>
            <a:off x="689167" y="101616"/>
            <a:ext cx="8955000" cy="339000"/>
          </a:xfrm>
          <a:prstGeom prst="rect">
            <a:avLst/>
          </a:prstGeom>
          <a:noFill/>
          <a:ln>
            <a:noFill/>
          </a:ln>
        </p:spPr>
        <p:txBody>
          <a:bodyPr anchorCtr="0" anchor="ctr" bIns="100700" lIns="100700" spcFirstLastPara="1" rIns="100700" wrap="square" tIns="100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Cinzel"/>
                <a:ea typeface="Cinzel"/>
                <a:cs typeface="Cinzel"/>
                <a:sym typeface="Cinzel"/>
              </a:rPr>
              <a:t>Marketing digital | Redes sociais básico</a:t>
            </a:r>
            <a:endParaRPr b="0" i="0" sz="1100" u="none" cap="none" strike="noStrike">
              <a:solidFill>
                <a:srgbClr val="666666"/>
              </a:solidFill>
              <a:latin typeface="Cinzel"/>
              <a:ea typeface="Cinzel"/>
              <a:cs typeface="Cinzel"/>
              <a:sym typeface="Cinze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g2b47a2659c2_0_87"/>
          <p:cNvSpPr txBox="1"/>
          <p:nvPr>
            <p:ph type="ctrTitle"/>
          </p:nvPr>
        </p:nvSpPr>
        <p:spPr>
          <a:xfrm>
            <a:off x="343312" y="819952"/>
            <a:ext cx="9384600" cy="22605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22" name="Google Shape;22;g2b47a2659c2_0_87"/>
          <p:cNvSpPr txBox="1"/>
          <p:nvPr>
            <p:ph idx="1" type="subTitle"/>
          </p:nvPr>
        </p:nvSpPr>
        <p:spPr>
          <a:xfrm>
            <a:off x="343303" y="3121036"/>
            <a:ext cx="9384600" cy="872700"/>
          </a:xfrm>
          <a:prstGeom prst="rect">
            <a:avLst/>
          </a:prstGeom>
          <a:noFill/>
          <a:ln>
            <a:noFill/>
          </a:ln>
        </p:spPr>
        <p:txBody>
          <a:bodyPr anchorCtr="0" anchor="t" bIns="100700" lIns="100700" spcFirstLastPara="1" rIns="100700" wrap="square" tIns="1007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23" name="Google Shape;23;g2b47a2659c2_0_87"/>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g2b47a2659c2_0_91"/>
          <p:cNvSpPr txBox="1"/>
          <p:nvPr>
            <p:ph type="title"/>
          </p:nvPr>
        </p:nvSpPr>
        <p:spPr>
          <a:xfrm>
            <a:off x="343303" y="2368590"/>
            <a:ext cx="9384600" cy="927000"/>
          </a:xfrm>
          <a:prstGeom prst="rect">
            <a:avLst/>
          </a:prstGeom>
          <a:noFill/>
          <a:ln>
            <a:noFill/>
          </a:ln>
        </p:spPr>
        <p:txBody>
          <a:bodyPr anchorCtr="0" anchor="ctr" bIns="100700" lIns="100700" spcFirstLastPara="1" rIns="100700" wrap="square" tIns="100700">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26" name="Google Shape;26;g2b47a2659c2_0_91"/>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2b47a2659c2_0_94"/>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29" name="Google Shape;29;g2b47a2659c2_0_94"/>
          <p:cNvSpPr txBox="1"/>
          <p:nvPr>
            <p:ph idx="1" type="body"/>
          </p:nvPr>
        </p:nvSpPr>
        <p:spPr>
          <a:xfrm>
            <a:off x="343303" y="1269145"/>
            <a:ext cx="9384600" cy="3762300"/>
          </a:xfrm>
          <a:prstGeom prst="rect">
            <a:avLst/>
          </a:prstGeom>
          <a:noFill/>
          <a:ln>
            <a:noFill/>
          </a:ln>
        </p:spPr>
        <p:txBody>
          <a:bodyPr anchorCtr="0" anchor="t" bIns="100700" lIns="100700" spcFirstLastPara="1" rIns="100700" wrap="square" tIns="100700">
            <a:normAutofit/>
          </a:bodyPr>
          <a:lstStyle>
            <a:lvl1pPr indent="-355600" lvl="0" marL="457200" algn="l">
              <a:lnSpc>
                <a:spcPct val="115000"/>
              </a:lnSpc>
              <a:spcBef>
                <a:spcPts val="0"/>
              </a:spcBef>
              <a:spcAft>
                <a:spcPts val="0"/>
              </a:spcAft>
              <a:buSzPts val="20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30" name="Google Shape;30;g2b47a2659c2_0_94"/>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2b47a2659c2_0_98"/>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33" name="Google Shape;33;g2b47a2659c2_0_98"/>
          <p:cNvSpPr txBox="1"/>
          <p:nvPr>
            <p:ph idx="1" type="body"/>
          </p:nvPr>
        </p:nvSpPr>
        <p:spPr>
          <a:xfrm>
            <a:off x="343303" y="1269145"/>
            <a:ext cx="4405500" cy="3762300"/>
          </a:xfrm>
          <a:prstGeom prst="rect">
            <a:avLst/>
          </a:prstGeom>
          <a:noFill/>
          <a:ln>
            <a:noFill/>
          </a:ln>
        </p:spPr>
        <p:txBody>
          <a:bodyPr anchorCtr="0" anchor="t" bIns="100700" lIns="100700" spcFirstLastPara="1" rIns="100700" wrap="square" tIns="1007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34" name="Google Shape;34;g2b47a2659c2_0_98"/>
          <p:cNvSpPr txBox="1"/>
          <p:nvPr>
            <p:ph idx="2" type="body"/>
          </p:nvPr>
        </p:nvSpPr>
        <p:spPr>
          <a:xfrm>
            <a:off x="5322352" y="1269145"/>
            <a:ext cx="4405500" cy="3762300"/>
          </a:xfrm>
          <a:prstGeom prst="rect">
            <a:avLst/>
          </a:prstGeom>
          <a:noFill/>
          <a:ln>
            <a:noFill/>
          </a:ln>
        </p:spPr>
        <p:txBody>
          <a:bodyPr anchorCtr="0" anchor="t" bIns="100700" lIns="100700" spcFirstLastPara="1" rIns="100700" wrap="square" tIns="1007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35" name="Google Shape;35;g2b47a2659c2_0_98"/>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2b47a2659c2_0_103"/>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38" name="Google Shape;38;g2b47a2659c2_0_10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g2b47a2659c2_0_106"/>
          <p:cNvSpPr txBox="1"/>
          <p:nvPr>
            <p:ph type="title"/>
          </p:nvPr>
        </p:nvSpPr>
        <p:spPr>
          <a:xfrm>
            <a:off x="343303" y="611846"/>
            <a:ext cx="3092700" cy="832200"/>
          </a:xfrm>
          <a:prstGeom prst="rect">
            <a:avLst/>
          </a:prstGeom>
          <a:noFill/>
          <a:ln>
            <a:noFill/>
          </a:ln>
        </p:spPr>
        <p:txBody>
          <a:bodyPr anchorCtr="0" anchor="b" bIns="100700" lIns="100700" spcFirstLastPara="1" rIns="100700" wrap="square" tIns="10070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1" name="Google Shape;41;g2b47a2659c2_0_106"/>
          <p:cNvSpPr txBox="1"/>
          <p:nvPr>
            <p:ph idx="1" type="body"/>
          </p:nvPr>
        </p:nvSpPr>
        <p:spPr>
          <a:xfrm>
            <a:off x="343303" y="1530276"/>
            <a:ext cx="3092700" cy="3501300"/>
          </a:xfrm>
          <a:prstGeom prst="rect">
            <a:avLst/>
          </a:prstGeom>
          <a:noFill/>
          <a:ln>
            <a:noFill/>
          </a:ln>
        </p:spPr>
        <p:txBody>
          <a:bodyPr anchorCtr="0" anchor="t" bIns="100700" lIns="100700" spcFirstLastPara="1" rIns="100700" wrap="square" tIns="100700">
            <a:normAutofit/>
          </a:bodyPr>
          <a:lstStyle>
            <a:lvl1pPr indent="-311150" lvl="0" marL="457200" algn="l">
              <a:lnSpc>
                <a:spcPct val="115000"/>
              </a:lnSpc>
              <a:spcBef>
                <a:spcPts val="0"/>
              </a:spcBef>
              <a:spcAft>
                <a:spcPts val="0"/>
              </a:spcAft>
              <a:buSzPts val="1300"/>
              <a:buChar char="●"/>
              <a:defRPr sz="13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42" name="Google Shape;42;g2b47a2659c2_0_106"/>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g2b47a2659c2_0_110"/>
          <p:cNvSpPr txBox="1"/>
          <p:nvPr>
            <p:ph type="title"/>
          </p:nvPr>
        </p:nvSpPr>
        <p:spPr>
          <a:xfrm>
            <a:off x="539956" y="495721"/>
            <a:ext cx="7013400" cy="4504800"/>
          </a:xfrm>
          <a:prstGeom prst="rect">
            <a:avLst/>
          </a:prstGeom>
          <a:noFill/>
          <a:ln>
            <a:noFill/>
          </a:ln>
        </p:spPr>
        <p:txBody>
          <a:bodyPr anchorCtr="0" anchor="ctr" bIns="100700" lIns="100700" spcFirstLastPara="1" rIns="100700" wrap="square" tIns="100700">
            <a:norm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45" name="Google Shape;45;g2b47a2659c2_0_110"/>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g2b47a2659c2_0_113"/>
          <p:cNvSpPr/>
          <p:nvPr/>
        </p:nvSpPr>
        <p:spPr>
          <a:xfrm>
            <a:off x="5035550" y="28"/>
            <a:ext cx="5035500" cy="5664300"/>
          </a:xfrm>
          <a:prstGeom prst="rect">
            <a:avLst/>
          </a:prstGeom>
          <a:solidFill>
            <a:schemeClr val="dk2"/>
          </a:solidFill>
          <a:ln>
            <a:noFill/>
          </a:ln>
        </p:spPr>
        <p:txBody>
          <a:bodyPr anchorCtr="0" anchor="ctr" bIns="100700" lIns="100700" spcFirstLastPara="1" rIns="100700" wrap="square" tIns="10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2b47a2659c2_0_113"/>
          <p:cNvSpPr txBox="1"/>
          <p:nvPr>
            <p:ph type="title"/>
          </p:nvPr>
        </p:nvSpPr>
        <p:spPr>
          <a:xfrm>
            <a:off x="292419" y="1358015"/>
            <a:ext cx="4455300" cy="16323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4600"/>
              <a:buNone/>
              <a:defRPr sz="4600"/>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49" name="Google Shape;49;g2b47a2659c2_0_113"/>
          <p:cNvSpPr txBox="1"/>
          <p:nvPr>
            <p:ph idx="1" type="subTitle"/>
          </p:nvPr>
        </p:nvSpPr>
        <p:spPr>
          <a:xfrm>
            <a:off x="292419" y="3086843"/>
            <a:ext cx="4455300" cy="1360200"/>
          </a:xfrm>
          <a:prstGeom prst="rect">
            <a:avLst/>
          </a:prstGeom>
          <a:noFill/>
          <a:ln>
            <a:noFill/>
          </a:ln>
        </p:spPr>
        <p:txBody>
          <a:bodyPr anchorCtr="0" anchor="t" bIns="100700" lIns="100700" spcFirstLastPara="1" rIns="100700" wrap="square" tIns="100700">
            <a:norm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50" name="Google Shape;50;g2b47a2659c2_0_113"/>
          <p:cNvSpPr txBox="1"/>
          <p:nvPr>
            <p:ph idx="2" type="body"/>
          </p:nvPr>
        </p:nvSpPr>
        <p:spPr>
          <a:xfrm>
            <a:off x="5440310" y="797514"/>
            <a:ext cx="4226100" cy="4069200"/>
          </a:xfrm>
          <a:prstGeom prst="rect">
            <a:avLst/>
          </a:prstGeom>
          <a:noFill/>
          <a:ln>
            <a:noFill/>
          </a:ln>
        </p:spPr>
        <p:txBody>
          <a:bodyPr anchorCtr="0" anchor="ctr" bIns="100700" lIns="100700" spcFirstLastPara="1" rIns="100700" wrap="square" tIns="100700">
            <a:normAutofit/>
          </a:bodyPr>
          <a:lstStyle>
            <a:lvl1pPr indent="-355600" lvl="0" marL="457200" algn="l">
              <a:lnSpc>
                <a:spcPct val="115000"/>
              </a:lnSpc>
              <a:spcBef>
                <a:spcPts val="0"/>
              </a:spcBef>
              <a:spcAft>
                <a:spcPts val="0"/>
              </a:spcAft>
              <a:buClr>
                <a:schemeClr val="dk1"/>
              </a:buClr>
              <a:buSzPts val="2000"/>
              <a:buChar char="●"/>
              <a:defRPr>
                <a:solidFill>
                  <a:schemeClr val="dk1"/>
                </a:solidFill>
              </a:defRPr>
            </a:lvl1pPr>
            <a:lvl2pPr indent="-323850" lvl="1" marL="914400" algn="l">
              <a:lnSpc>
                <a:spcPct val="115000"/>
              </a:lnSpc>
              <a:spcBef>
                <a:spcPts val="0"/>
              </a:spcBef>
              <a:spcAft>
                <a:spcPts val="0"/>
              </a:spcAft>
              <a:buClr>
                <a:schemeClr val="dk1"/>
              </a:buClr>
              <a:buSzPts val="1500"/>
              <a:buChar char="○"/>
              <a:defRPr>
                <a:solidFill>
                  <a:schemeClr val="dk1"/>
                </a:solidFill>
              </a:defRPr>
            </a:lvl2pPr>
            <a:lvl3pPr indent="-323850" lvl="2" marL="1371600" algn="l">
              <a:lnSpc>
                <a:spcPct val="115000"/>
              </a:lnSpc>
              <a:spcBef>
                <a:spcPts val="0"/>
              </a:spcBef>
              <a:spcAft>
                <a:spcPts val="0"/>
              </a:spcAft>
              <a:buClr>
                <a:schemeClr val="dk1"/>
              </a:buClr>
              <a:buSzPts val="1500"/>
              <a:buChar char="■"/>
              <a:defRPr>
                <a:solidFill>
                  <a:schemeClr val="dk1"/>
                </a:solidFill>
              </a:defRPr>
            </a:lvl3pPr>
            <a:lvl4pPr indent="-323850" lvl="3" marL="1828800" algn="l">
              <a:lnSpc>
                <a:spcPct val="115000"/>
              </a:lnSpc>
              <a:spcBef>
                <a:spcPts val="0"/>
              </a:spcBef>
              <a:spcAft>
                <a:spcPts val="0"/>
              </a:spcAft>
              <a:buClr>
                <a:schemeClr val="dk1"/>
              </a:buClr>
              <a:buSzPts val="1500"/>
              <a:buChar char="●"/>
              <a:defRPr>
                <a:solidFill>
                  <a:schemeClr val="dk1"/>
                </a:solidFill>
              </a:defRPr>
            </a:lvl4pPr>
            <a:lvl5pPr indent="-323850" lvl="4" marL="2286000" algn="l">
              <a:lnSpc>
                <a:spcPct val="115000"/>
              </a:lnSpc>
              <a:spcBef>
                <a:spcPts val="0"/>
              </a:spcBef>
              <a:spcAft>
                <a:spcPts val="0"/>
              </a:spcAft>
              <a:buClr>
                <a:schemeClr val="dk1"/>
              </a:buClr>
              <a:buSzPts val="1500"/>
              <a:buChar char="○"/>
              <a:defRPr>
                <a:solidFill>
                  <a:schemeClr val="dk1"/>
                </a:solidFill>
              </a:defRPr>
            </a:lvl5pPr>
            <a:lvl6pPr indent="-323850" lvl="5" marL="2743200" algn="l">
              <a:lnSpc>
                <a:spcPct val="115000"/>
              </a:lnSpc>
              <a:spcBef>
                <a:spcPts val="0"/>
              </a:spcBef>
              <a:spcAft>
                <a:spcPts val="0"/>
              </a:spcAft>
              <a:buClr>
                <a:schemeClr val="dk1"/>
              </a:buClr>
              <a:buSzPts val="1500"/>
              <a:buChar char="■"/>
              <a:defRPr>
                <a:solidFill>
                  <a:schemeClr val="dk1"/>
                </a:solidFill>
              </a:defRPr>
            </a:lvl6pPr>
            <a:lvl7pPr indent="-323850" lvl="6" marL="3200400" algn="l">
              <a:lnSpc>
                <a:spcPct val="115000"/>
              </a:lnSpc>
              <a:spcBef>
                <a:spcPts val="0"/>
              </a:spcBef>
              <a:spcAft>
                <a:spcPts val="0"/>
              </a:spcAft>
              <a:buClr>
                <a:schemeClr val="dk1"/>
              </a:buClr>
              <a:buSzPts val="1500"/>
              <a:buChar char="●"/>
              <a:defRPr>
                <a:solidFill>
                  <a:schemeClr val="dk1"/>
                </a:solidFill>
              </a:defRPr>
            </a:lvl7pPr>
            <a:lvl8pPr indent="-323850" lvl="7" marL="3657600" algn="l">
              <a:lnSpc>
                <a:spcPct val="115000"/>
              </a:lnSpc>
              <a:spcBef>
                <a:spcPts val="0"/>
              </a:spcBef>
              <a:spcAft>
                <a:spcPts val="0"/>
              </a:spcAft>
              <a:buClr>
                <a:schemeClr val="dk1"/>
              </a:buClr>
              <a:buSzPts val="1500"/>
              <a:buChar char="○"/>
              <a:defRPr>
                <a:solidFill>
                  <a:schemeClr val="dk1"/>
                </a:solidFill>
              </a:defRPr>
            </a:lvl8pPr>
            <a:lvl9pPr indent="-323850" lvl="8" marL="4114800" algn="l">
              <a:lnSpc>
                <a:spcPct val="115000"/>
              </a:lnSpc>
              <a:spcBef>
                <a:spcPts val="0"/>
              </a:spcBef>
              <a:spcAft>
                <a:spcPts val="0"/>
              </a:spcAft>
              <a:buClr>
                <a:schemeClr val="dk1"/>
              </a:buClr>
              <a:buSzPts val="1500"/>
              <a:buChar char="■"/>
              <a:defRPr>
                <a:solidFill>
                  <a:schemeClr val="dk1"/>
                </a:solidFill>
              </a:defRPr>
            </a:lvl9pPr>
          </a:lstStyle>
          <a:p/>
        </p:txBody>
      </p:sp>
      <p:sp>
        <p:nvSpPr>
          <p:cNvPr id="51" name="Google Shape;51;g2b47a2659c2_0_11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2b47a2659c2_0_119"/>
          <p:cNvSpPr txBox="1"/>
          <p:nvPr>
            <p:ph idx="1" type="body"/>
          </p:nvPr>
        </p:nvSpPr>
        <p:spPr>
          <a:xfrm>
            <a:off x="343303" y="4658855"/>
            <a:ext cx="6606900" cy="666300"/>
          </a:xfrm>
          <a:prstGeom prst="rect">
            <a:avLst/>
          </a:prstGeom>
          <a:noFill/>
          <a:ln>
            <a:noFill/>
          </a:ln>
        </p:spPr>
        <p:txBody>
          <a:bodyPr anchorCtr="0" anchor="ctr" bIns="100700" lIns="100700" spcFirstLastPara="1" rIns="100700" wrap="square" tIns="100700">
            <a:normAutofit/>
          </a:bodyPr>
          <a:lstStyle>
            <a:lvl1pPr indent="-228600" lvl="0" marL="457200" algn="l">
              <a:lnSpc>
                <a:spcPct val="100000"/>
              </a:lnSpc>
              <a:spcBef>
                <a:spcPts val="0"/>
              </a:spcBef>
              <a:spcAft>
                <a:spcPts val="0"/>
              </a:spcAft>
              <a:buSzPts val="2000"/>
              <a:buNone/>
              <a:defRPr/>
            </a:lvl1pPr>
          </a:lstStyle>
          <a:p/>
        </p:txBody>
      </p:sp>
      <p:sp>
        <p:nvSpPr>
          <p:cNvPr id="54" name="Google Shape;54;g2b47a2659c2_0_119"/>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g2b47a2659c2_0_122"/>
          <p:cNvSpPr txBox="1"/>
          <p:nvPr>
            <p:ph hasCustomPrompt="1" type="title"/>
          </p:nvPr>
        </p:nvSpPr>
        <p:spPr>
          <a:xfrm>
            <a:off x="343303" y="1218103"/>
            <a:ext cx="9384600" cy="21624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13200"/>
              <a:buNone/>
              <a:defRPr sz="13200"/>
            </a:lvl1pPr>
            <a:lvl2pPr lvl="1" algn="ctr">
              <a:lnSpc>
                <a:spcPct val="100000"/>
              </a:lnSpc>
              <a:spcBef>
                <a:spcPts val="0"/>
              </a:spcBef>
              <a:spcAft>
                <a:spcPts val="0"/>
              </a:spcAft>
              <a:buSzPts val="13200"/>
              <a:buNone/>
              <a:defRPr sz="13200"/>
            </a:lvl2pPr>
            <a:lvl3pPr lvl="2" algn="ctr">
              <a:lnSpc>
                <a:spcPct val="100000"/>
              </a:lnSpc>
              <a:spcBef>
                <a:spcPts val="0"/>
              </a:spcBef>
              <a:spcAft>
                <a:spcPts val="0"/>
              </a:spcAft>
              <a:buSzPts val="13200"/>
              <a:buNone/>
              <a:defRPr sz="13200"/>
            </a:lvl3pPr>
            <a:lvl4pPr lvl="3" algn="ctr">
              <a:lnSpc>
                <a:spcPct val="100000"/>
              </a:lnSpc>
              <a:spcBef>
                <a:spcPts val="0"/>
              </a:spcBef>
              <a:spcAft>
                <a:spcPts val="0"/>
              </a:spcAft>
              <a:buSzPts val="13200"/>
              <a:buNone/>
              <a:defRPr sz="13200"/>
            </a:lvl4pPr>
            <a:lvl5pPr lvl="4" algn="ctr">
              <a:lnSpc>
                <a:spcPct val="100000"/>
              </a:lnSpc>
              <a:spcBef>
                <a:spcPts val="0"/>
              </a:spcBef>
              <a:spcAft>
                <a:spcPts val="0"/>
              </a:spcAft>
              <a:buSzPts val="13200"/>
              <a:buNone/>
              <a:defRPr sz="13200"/>
            </a:lvl5pPr>
            <a:lvl6pPr lvl="5" algn="ctr">
              <a:lnSpc>
                <a:spcPct val="100000"/>
              </a:lnSpc>
              <a:spcBef>
                <a:spcPts val="0"/>
              </a:spcBef>
              <a:spcAft>
                <a:spcPts val="0"/>
              </a:spcAft>
              <a:buSzPts val="13200"/>
              <a:buNone/>
              <a:defRPr sz="13200"/>
            </a:lvl6pPr>
            <a:lvl7pPr lvl="6" algn="ctr">
              <a:lnSpc>
                <a:spcPct val="100000"/>
              </a:lnSpc>
              <a:spcBef>
                <a:spcPts val="0"/>
              </a:spcBef>
              <a:spcAft>
                <a:spcPts val="0"/>
              </a:spcAft>
              <a:buSzPts val="13200"/>
              <a:buNone/>
              <a:defRPr sz="13200"/>
            </a:lvl7pPr>
            <a:lvl8pPr lvl="7" algn="ctr">
              <a:lnSpc>
                <a:spcPct val="100000"/>
              </a:lnSpc>
              <a:spcBef>
                <a:spcPts val="0"/>
              </a:spcBef>
              <a:spcAft>
                <a:spcPts val="0"/>
              </a:spcAft>
              <a:buSzPts val="13200"/>
              <a:buNone/>
              <a:defRPr sz="13200"/>
            </a:lvl8pPr>
            <a:lvl9pPr lvl="8" algn="ctr">
              <a:lnSpc>
                <a:spcPct val="100000"/>
              </a:lnSpc>
              <a:spcBef>
                <a:spcPts val="0"/>
              </a:spcBef>
              <a:spcAft>
                <a:spcPts val="0"/>
              </a:spcAft>
              <a:buSzPts val="13200"/>
              <a:buNone/>
              <a:defRPr sz="13200"/>
            </a:lvl9pPr>
          </a:lstStyle>
          <a:p>
            <a:r>
              <a:t>xx%</a:t>
            </a:r>
          </a:p>
        </p:txBody>
      </p:sp>
      <p:sp>
        <p:nvSpPr>
          <p:cNvPr id="57" name="Google Shape;57;g2b47a2659c2_0_122"/>
          <p:cNvSpPr txBox="1"/>
          <p:nvPr>
            <p:ph idx="1" type="body"/>
          </p:nvPr>
        </p:nvSpPr>
        <p:spPr>
          <a:xfrm>
            <a:off x="343303" y="3471339"/>
            <a:ext cx="9384600" cy="1432500"/>
          </a:xfrm>
          <a:prstGeom prst="rect">
            <a:avLst/>
          </a:prstGeom>
          <a:noFill/>
          <a:ln>
            <a:noFill/>
          </a:ln>
        </p:spPr>
        <p:txBody>
          <a:bodyPr anchorCtr="0" anchor="t" bIns="100700" lIns="100700" spcFirstLastPara="1" rIns="100700" wrap="square" tIns="100700">
            <a:normAutofit/>
          </a:bodyPr>
          <a:lstStyle>
            <a:lvl1pPr indent="-355600" lvl="0" marL="457200" algn="ctr">
              <a:lnSpc>
                <a:spcPct val="115000"/>
              </a:lnSpc>
              <a:spcBef>
                <a:spcPts val="0"/>
              </a:spcBef>
              <a:spcAft>
                <a:spcPts val="0"/>
              </a:spcAft>
              <a:buSzPts val="2000"/>
              <a:buChar char="●"/>
              <a:defRPr/>
            </a:lvl1pPr>
            <a:lvl2pPr indent="-323850" lvl="1" marL="914400" algn="ctr">
              <a:lnSpc>
                <a:spcPct val="115000"/>
              </a:lnSpc>
              <a:spcBef>
                <a:spcPts val="0"/>
              </a:spcBef>
              <a:spcAft>
                <a:spcPts val="0"/>
              </a:spcAft>
              <a:buSzPts val="1500"/>
              <a:buChar char="○"/>
              <a:defRPr/>
            </a:lvl2pPr>
            <a:lvl3pPr indent="-323850" lvl="2" marL="1371600" algn="ctr">
              <a:lnSpc>
                <a:spcPct val="115000"/>
              </a:lnSpc>
              <a:spcBef>
                <a:spcPts val="0"/>
              </a:spcBef>
              <a:spcAft>
                <a:spcPts val="0"/>
              </a:spcAft>
              <a:buSzPts val="1500"/>
              <a:buChar char="■"/>
              <a:defRPr/>
            </a:lvl3pPr>
            <a:lvl4pPr indent="-323850" lvl="3" marL="1828800" algn="ctr">
              <a:lnSpc>
                <a:spcPct val="115000"/>
              </a:lnSpc>
              <a:spcBef>
                <a:spcPts val="0"/>
              </a:spcBef>
              <a:spcAft>
                <a:spcPts val="0"/>
              </a:spcAft>
              <a:buSzPts val="1500"/>
              <a:buChar char="●"/>
              <a:defRPr/>
            </a:lvl4pPr>
            <a:lvl5pPr indent="-323850" lvl="4" marL="2286000" algn="ctr">
              <a:lnSpc>
                <a:spcPct val="115000"/>
              </a:lnSpc>
              <a:spcBef>
                <a:spcPts val="0"/>
              </a:spcBef>
              <a:spcAft>
                <a:spcPts val="0"/>
              </a:spcAft>
              <a:buSzPts val="1500"/>
              <a:buChar char="○"/>
              <a:defRPr/>
            </a:lvl5pPr>
            <a:lvl6pPr indent="-323850" lvl="5" marL="2743200" algn="ctr">
              <a:lnSpc>
                <a:spcPct val="115000"/>
              </a:lnSpc>
              <a:spcBef>
                <a:spcPts val="0"/>
              </a:spcBef>
              <a:spcAft>
                <a:spcPts val="0"/>
              </a:spcAft>
              <a:buSzPts val="1500"/>
              <a:buChar char="■"/>
              <a:defRPr/>
            </a:lvl6pPr>
            <a:lvl7pPr indent="-323850" lvl="6" marL="3200400" algn="ctr">
              <a:lnSpc>
                <a:spcPct val="115000"/>
              </a:lnSpc>
              <a:spcBef>
                <a:spcPts val="0"/>
              </a:spcBef>
              <a:spcAft>
                <a:spcPts val="0"/>
              </a:spcAft>
              <a:buSzPts val="1500"/>
              <a:buChar char="●"/>
              <a:defRPr/>
            </a:lvl7pPr>
            <a:lvl8pPr indent="-323850" lvl="7" marL="3657600" algn="ctr">
              <a:lnSpc>
                <a:spcPct val="115000"/>
              </a:lnSpc>
              <a:spcBef>
                <a:spcPts val="0"/>
              </a:spcBef>
              <a:spcAft>
                <a:spcPts val="0"/>
              </a:spcAft>
              <a:buSzPts val="1500"/>
              <a:buChar char="○"/>
              <a:defRPr/>
            </a:lvl8pPr>
            <a:lvl9pPr indent="-323850" lvl="8" marL="4114800" algn="ctr">
              <a:lnSpc>
                <a:spcPct val="115000"/>
              </a:lnSpc>
              <a:spcBef>
                <a:spcPts val="0"/>
              </a:spcBef>
              <a:spcAft>
                <a:spcPts val="0"/>
              </a:spcAft>
              <a:buSzPts val="1500"/>
              <a:buChar char="■"/>
              <a:defRPr/>
            </a:lvl9pPr>
          </a:lstStyle>
          <a:p/>
        </p:txBody>
      </p:sp>
      <p:sp>
        <p:nvSpPr>
          <p:cNvPr id="58" name="Google Shape;58;g2b47a2659c2_0_122"/>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g2b47a2659c2_0_126"/>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1">
  <p:cSld name="BLANK_1">
    <p:spTree>
      <p:nvGrpSpPr>
        <p:cNvPr id="61" name="Shape 61"/>
        <p:cNvGrpSpPr/>
        <p:nvPr/>
      </p:nvGrpSpPr>
      <p:grpSpPr>
        <a:xfrm>
          <a:off x="0" y="0"/>
          <a:ext cx="0" cy="0"/>
          <a:chOff x="0" y="0"/>
          <a:chExt cx="0" cy="0"/>
        </a:xfrm>
      </p:grpSpPr>
      <p:sp>
        <p:nvSpPr>
          <p:cNvPr id="62" name="Google Shape;62;g2b47a2659c2_0_150"/>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2">
    <p:spTree>
      <p:nvGrpSpPr>
        <p:cNvPr id="63" name="Shape 63"/>
        <p:cNvGrpSpPr/>
        <p:nvPr/>
      </p:nvGrpSpPr>
      <p:grpSpPr>
        <a:xfrm>
          <a:off x="0" y="0"/>
          <a:ext cx="0" cy="0"/>
          <a:chOff x="0" y="0"/>
          <a:chExt cx="0" cy="0"/>
        </a:xfrm>
      </p:grpSpPr>
      <p:pic>
        <p:nvPicPr>
          <p:cNvPr id="64" name="Google Shape;64;g2b47a2659c2_0_152"/>
          <p:cNvPicPr preferRelativeResize="0"/>
          <p:nvPr/>
        </p:nvPicPr>
        <p:blipFill rotWithShape="1">
          <a:blip r:embed="rId2">
            <a:alphaModFix/>
          </a:blip>
          <a:srcRect b="0" l="49" r="39" t="0"/>
          <a:stretch/>
        </p:blipFill>
        <p:spPr>
          <a:xfrm>
            <a:off x="-27825" y="-18687"/>
            <a:ext cx="10126752" cy="5701574"/>
          </a:xfrm>
          <a:prstGeom prst="rect">
            <a:avLst/>
          </a:prstGeom>
          <a:noFill/>
          <a:ln>
            <a:noFill/>
          </a:ln>
        </p:spPr>
      </p:pic>
      <p:sp>
        <p:nvSpPr>
          <p:cNvPr id="65" name="Google Shape;65;g2b47a2659c2_0_152"/>
          <p:cNvSpPr txBox="1"/>
          <p:nvPr>
            <p:ph idx="12" type="sldNum"/>
          </p:nvPr>
        </p:nvSpPr>
        <p:spPr>
          <a:xfrm>
            <a:off x="9081593" y="5263645"/>
            <a:ext cx="604200" cy="4335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_1">
    <p:spTree>
      <p:nvGrpSpPr>
        <p:cNvPr id="66" name="Shape 66"/>
        <p:cNvGrpSpPr/>
        <p:nvPr/>
      </p:nvGrpSpPr>
      <p:grpSpPr>
        <a:xfrm>
          <a:off x="0" y="0"/>
          <a:ext cx="0" cy="0"/>
          <a:chOff x="0" y="0"/>
          <a:chExt cx="0" cy="0"/>
        </a:xfrm>
      </p:grpSpPr>
      <p:sp>
        <p:nvSpPr>
          <p:cNvPr id="67" name="Google Shape;67;g2b47a2659c2_0_15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g2b47a2659c2_0_15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g2b47a2659c2_0_15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0" name="Google Shape;70;g2b47a2659c2_0_155"/>
          <p:cNvPicPr preferRelativeResize="0"/>
          <p:nvPr/>
        </p:nvPicPr>
        <p:blipFill rotWithShape="1">
          <a:blip r:embed="rId2">
            <a:alphaModFix/>
          </a:blip>
          <a:srcRect b="0" l="0" r="0" t="0"/>
          <a:stretch/>
        </p:blipFill>
        <p:spPr>
          <a:xfrm>
            <a:off x="-42438" y="-24275"/>
            <a:ext cx="10155974" cy="57127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g2b47a2659c2_0_83"/>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9pPr>
          </a:lstStyle>
          <a:p/>
        </p:txBody>
      </p:sp>
      <p:sp>
        <p:nvSpPr>
          <p:cNvPr id="7" name="Google Shape;7;g2b47a2659c2_0_83"/>
          <p:cNvSpPr txBox="1"/>
          <p:nvPr>
            <p:ph idx="1" type="body"/>
          </p:nvPr>
        </p:nvSpPr>
        <p:spPr>
          <a:xfrm>
            <a:off x="343303" y="1269145"/>
            <a:ext cx="9384600" cy="3762300"/>
          </a:xfrm>
          <a:prstGeom prst="rect">
            <a:avLst/>
          </a:prstGeom>
          <a:noFill/>
          <a:ln>
            <a:noFill/>
          </a:ln>
        </p:spPr>
        <p:txBody>
          <a:bodyPr anchorCtr="0" anchor="t" bIns="100700" lIns="100700" spcFirstLastPara="1" rIns="100700" wrap="square" tIns="100700">
            <a:normAutofit/>
          </a:bodyPr>
          <a:lstStyle>
            <a:lvl1pPr indent="-355600" lvl="0" marL="457200" marR="0" rtl="0" algn="l">
              <a:lnSpc>
                <a:spcPct val="115000"/>
              </a:lnSpc>
              <a:spcBef>
                <a:spcPts val="0"/>
              </a:spcBef>
              <a:spcAft>
                <a:spcPts val="0"/>
              </a:spcAft>
              <a:buClr>
                <a:schemeClr val="lt2"/>
              </a:buClr>
              <a:buSzPts val="2000"/>
              <a:buFont typeface="Arial"/>
              <a:buChar char="●"/>
              <a:defRPr b="0" i="0" sz="2000" u="none" cap="none" strike="noStrike">
                <a:solidFill>
                  <a:schemeClr val="lt2"/>
                </a:solidFill>
                <a:latin typeface="Arial"/>
                <a:ea typeface="Arial"/>
                <a:cs typeface="Arial"/>
                <a:sym typeface="Arial"/>
              </a:defRPr>
            </a:lvl1pPr>
            <a:lvl2pPr indent="-323850" lvl="1" marL="9144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2pPr>
            <a:lvl3pPr indent="-323850" lvl="2" marL="13716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3pPr>
            <a:lvl4pPr indent="-323850" lvl="3" marL="18288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4pPr>
            <a:lvl5pPr indent="-323850" lvl="4" marL="22860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5pPr>
            <a:lvl6pPr indent="-323850" lvl="5" marL="27432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6pPr>
            <a:lvl7pPr indent="-323850" lvl="6" marL="32004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7pPr>
            <a:lvl8pPr indent="-323850" lvl="7" marL="36576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8pPr>
            <a:lvl9pPr indent="-323850" lvl="8" marL="41148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9pPr>
          </a:lstStyle>
          <a:p/>
        </p:txBody>
      </p:sp>
      <p:sp>
        <p:nvSpPr>
          <p:cNvPr id="8" name="Google Shape;8;g2b47a2659c2_0_8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hyperlink" Target="mailto:bernardocmfgomes@gmail.com" TargetMode="Externa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a39b102941_0_0"/>
          <p:cNvSpPr txBox="1"/>
          <p:nvPr>
            <p:ph type="ctrTitle"/>
          </p:nvPr>
        </p:nvSpPr>
        <p:spPr>
          <a:xfrm>
            <a:off x="343312" y="819952"/>
            <a:ext cx="9384600" cy="2260500"/>
          </a:xfrm>
          <a:prstGeom prst="rect">
            <a:avLst/>
          </a:prstGeom>
        </p:spPr>
        <p:txBody>
          <a:bodyPr anchorCtr="0" anchor="ctr" bIns="100700" lIns="100700" spcFirstLastPara="1" rIns="100700" wrap="square" tIns="100700">
            <a:noAutofit/>
          </a:bodyPr>
          <a:lstStyle/>
          <a:p>
            <a:pPr indent="0" lvl="0" marL="0" rtl="0" algn="ctr">
              <a:spcBef>
                <a:spcPts val="0"/>
              </a:spcBef>
              <a:spcAft>
                <a:spcPts val="0"/>
              </a:spcAft>
              <a:buSzPts val="990"/>
              <a:buNone/>
            </a:pPr>
            <a:r>
              <a:rPr lang="en-US" sz="4330">
                <a:latin typeface="Comfortaa"/>
                <a:ea typeface="Comfortaa"/>
                <a:cs typeface="Comfortaa"/>
                <a:sym typeface="Comfortaa"/>
              </a:rPr>
              <a:t>Descubra emoções em textos com NLP, LLMs e ML</a:t>
            </a:r>
            <a:endParaRPr sz="4330">
              <a:latin typeface="Comfortaa"/>
              <a:ea typeface="Comfortaa"/>
              <a:cs typeface="Comfortaa"/>
              <a:sym typeface="Comfortaa"/>
            </a:endParaRPr>
          </a:p>
        </p:txBody>
      </p:sp>
      <p:sp>
        <p:nvSpPr>
          <p:cNvPr id="76" name="Google Shape;76;g3a39b102941_0_0"/>
          <p:cNvSpPr txBox="1"/>
          <p:nvPr>
            <p:ph idx="1" type="subTitle"/>
          </p:nvPr>
        </p:nvSpPr>
        <p:spPr>
          <a:xfrm>
            <a:off x="343303" y="3121036"/>
            <a:ext cx="9384600" cy="8727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sz="2300">
                <a:latin typeface="Comfortaa"/>
                <a:ea typeface="Comfortaa"/>
                <a:cs typeface="Comfortaa"/>
                <a:sym typeface="Comfortaa"/>
              </a:rPr>
              <a:t>Ministrante: Bernardo de Castro Monteiro Franco Gomes</a:t>
            </a:r>
            <a:endParaRPr sz="2300">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a39b102941_1_0"/>
          <p:cNvSpPr txBox="1"/>
          <p:nvPr>
            <p:ph type="title"/>
          </p:nvPr>
        </p:nvSpPr>
        <p:spPr>
          <a:xfrm>
            <a:off x="4572000" y="659650"/>
            <a:ext cx="5037900" cy="702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inzel"/>
                <a:ea typeface="Cinzel"/>
                <a:cs typeface="Cinzel"/>
                <a:sym typeface="Cinzel"/>
              </a:rPr>
              <a:t>Sobre mim:</a:t>
            </a:r>
            <a:endParaRPr>
              <a:latin typeface="Cinzel"/>
              <a:ea typeface="Cinzel"/>
              <a:cs typeface="Cinzel"/>
              <a:sym typeface="Cinzel"/>
            </a:endParaRPr>
          </a:p>
        </p:txBody>
      </p:sp>
      <p:sp>
        <p:nvSpPr>
          <p:cNvPr id="82" name="Google Shape;82;g3a39b102941_1_0"/>
          <p:cNvSpPr txBox="1"/>
          <p:nvPr>
            <p:ph idx="1" type="body"/>
          </p:nvPr>
        </p:nvSpPr>
        <p:spPr>
          <a:xfrm>
            <a:off x="4572000" y="1362250"/>
            <a:ext cx="5037900" cy="3840000"/>
          </a:xfrm>
          <a:prstGeom prst="rect">
            <a:avLst/>
          </a:prstGeom>
        </p:spPr>
        <p:txBody>
          <a:bodyPr anchorCtr="0" anchor="t" bIns="100700" lIns="100700" spcFirstLastPara="1" rIns="100700" wrap="square" tIns="100700">
            <a:normAutofit lnSpcReduction="10000"/>
          </a:bodyPr>
          <a:lstStyle/>
          <a:p>
            <a:pPr indent="0" lvl="0" marL="0" rtl="0" algn="l">
              <a:spcBef>
                <a:spcPts val="0"/>
              </a:spcBef>
              <a:spcAft>
                <a:spcPts val="0"/>
              </a:spcAft>
              <a:buNone/>
            </a:pPr>
            <a:r>
              <a:rPr lang="en-US" sz="1100">
                <a:solidFill>
                  <a:schemeClr val="accent2"/>
                </a:solidFill>
                <a:latin typeface="Comfortaa"/>
                <a:ea typeface="Comfortaa"/>
                <a:cs typeface="Comfortaa"/>
                <a:sym typeface="Comfortaa"/>
              </a:rPr>
              <a:t>Graduando em Ciência da Computação - UFSJ</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200">
                <a:solidFill>
                  <a:schemeClr val="accent2"/>
                </a:solidFill>
                <a:latin typeface="Comfortaa"/>
                <a:ea typeface="Comfortaa"/>
                <a:cs typeface="Comfortaa"/>
                <a:sym typeface="Comfortaa"/>
              </a:rPr>
              <a:t>Possuo 19 anos</a:t>
            </a:r>
            <a:endParaRPr sz="12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Dou aulas</a:t>
            </a:r>
            <a:r>
              <a:rPr lang="en-US" sz="1100">
                <a:solidFill>
                  <a:schemeClr val="accent2"/>
                </a:solidFill>
                <a:latin typeface="Comfortaa"/>
                <a:ea typeface="Comfortaa"/>
                <a:cs typeface="Comfortaa"/>
                <a:sym typeface="Comfortaa"/>
              </a:rPr>
              <a:t> de Desenvolvimento Full-Stack e Aprendizado de Máquina</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Desenvolvo projetos, minicursos e palestras para feiras de tecnologia e para faculdade</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Projeto: CommentSentimentAPI</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Projeto: Orienta.IA</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Minicurso: Desenvolvimento Prático de Sistemas com</a:t>
            </a:r>
            <a:endParaRPr sz="1100">
              <a:solidFill>
                <a:schemeClr val="accent2"/>
              </a:solidFill>
              <a:latin typeface="Comfortaa"/>
              <a:ea typeface="Comfortaa"/>
              <a:cs typeface="Comfortaa"/>
              <a:sym typeface="Comfortaa"/>
            </a:endParaRPr>
          </a:p>
          <a:p>
            <a:pPr indent="0" lvl="0" marL="457200" rtl="0" algn="l">
              <a:spcBef>
                <a:spcPts val="0"/>
              </a:spcBef>
              <a:spcAft>
                <a:spcPts val="0"/>
              </a:spcAft>
              <a:buNone/>
            </a:pPr>
            <a:r>
              <a:rPr lang="en-US" sz="1100">
                <a:solidFill>
                  <a:schemeClr val="accent2"/>
                </a:solidFill>
                <a:latin typeface="Comfortaa"/>
                <a:ea typeface="Comfortaa"/>
                <a:cs typeface="Comfortaa"/>
                <a:sym typeface="Comfortaa"/>
              </a:rPr>
              <a:t>    JavaScript e Flask</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Trabalho como freelancer em projetos relacionados com Aprendizado de Máquina e Jogos (Ex: Minecraft)</a:t>
            </a:r>
            <a:endParaRPr>
              <a:solidFill>
                <a:schemeClr val="accent2"/>
              </a:solidFill>
              <a:latin typeface="Comfortaa"/>
              <a:ea typeface="Comfortaa"/>
              <a:cs typeface="Comfortaa"/>
              <a:sym typeface="Comfortaa"/>
            </a:endParaRPr>
          </a:p>
        </p:txBody>
      </p:sp>
      <p:pic>
        <p:nvPicPr>
          <p:cNvPr id="83" name="Google Shape;83;g3a39b102941_1_0"/>
          <p:cNvPicPr preferRelativeResize="0"/>
          <p:nvPr/>
        </p:nvPicPr>
        <p:blipFill>
          <a:blip r:embed="rId3">
            <a:alphaModFix/>
          </a:blip>
          <a:stretch>
            <a:fillRect/>
          </a:stretch>
        </p:blipFill>
        <p:spPr>
          <a:xfrm>
            <a:off x="374675" y="659650"/>
            <a:ext cx="4197325" cy="4542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e411364e00_0_7"/>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Objetivo do Tutorial</a:t>
            </a:r>
            <a:endParaRPr>
              <a:latin typeface="Cinzel"/>
              <a:ea typeface="Cinzel"/>
              <a:cs typeface="Cinzel"/>
              <a:sym typeface="Cinzel"/>
            </a:endParaRPr>
          </a:p>
        </p:txBody>
      </p:sp>
      <p:sp>
        <p:nvSpPr>
          <p:cNvPr id="89" name="Google Shape;89;g3e411364e00_0_7"/>
          <p:cNvSpPr txBox="1"/>
          <p:nvPr>
            <p:ph idx="1" type="body"/>
          </p:nvPr>
        </p:nvSpPr>
        <p:spPr>
          <a:xfrm>
            <a:off x="343300" y="1269151"/>
            <a:ext cx="9384600" cy="4244700"/>
          </a:xfrm>
          <a:prstGeom prst="rect">
            <a:avLst/>
          </a:prstGeom>
        </p:spPr>
        <p:txBody>
          <a:bodyPr anchorCtr="0" anchor="t" bIns="100700" lIns="100700" spcFirstLastPara="1" rIns="100700" wrap="square" tIns="100700">
            <a:normAutofit/>
          </a:bodyPr>
          <a:lstStyle/>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Entender como emoções podem ser identificadas em textos</a:t>
            </a:r>
            <a:endParaRPr sz="2100">
              <a:latin typeface="Comfortaa"/>
              <a:ea typeface="Comfortaa"/>
              <a:cs typeface="Comfortaa"/>
              <a:sym typeface="Comfortaa"/>
            </a:endParaRPr>
          </a:p>
          <a:p>
            <a:pPr indent="0" lvl="0" marL="914400" rtl="0" algn="ctr">
              <a:spcBef>
                <a:spcPts val="0"/>
              </a:spcBef>
              <a:spcAft>
                <a:spcPts val="0"/>
              </a:spcAft>
              <a:buNone/>
            </a:pPr>
            <a:r>
              <a:t/>
            </a:r>
            <a:endParaRPr sz="2100">
              <a:latin typeface="Comfortaa"/>
              <a:ea typeface="Comfortaa"/>
              <a:cs typeface="Comfortaa"/>
              <a:sym typeface="Comfortaa"/>
            </a:endParaRPr>
          </a:p>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Aprender fundamentos de PLN, LLMs e ML</a:t>
            </a:r>
            <a:endParaRPr sz="2100">
              <a:latin typeface="Comfortaa"/>
              <a:ea typeface="Comfortaa"/>
              <a:cs typeface="Comfortaa"/>
              <a:sym typeface="Comfortaa"/>
            </a:endParaRPr>
          </a:p>
          <a:p>
            <a:pPr indent="0" lvl="0" marL="914400" rtl="0" algn="ctr">
              <a:spcBef>
                <a:spcPts val="0"/>
              </a:spcBef>
              <a:spcAft>
                <a:spcPts val="0"/>
              </a:spcAft>
              <a:buNone/>
            </a:pPr>
            <a:r>
              <a:t/>
            </a:r>
            <a:endParaRPr sz="2100">
              <a:latin typeface="Comfortaa"/>
              <a:ea typeface="Comfortaa"/>
              <a:cs typeface="Comfortaa"/>
              <a:sym typeface="Comfortaa"/>
            </a:endParaRPr>
          </a:p>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Construir uma pipeline prática de análise emocional</a:t>
            </a:r>
            <a:endParaRPr sz="2100">
              <a:latin typeface="Comfortaa"/>
              <a:ea typeface="Comfortaa"/>
              <a:cs typeface="Comfortaa"/>
              <a:sym typeface="Comfortaa"/>
            </a:endParaRPr>
          </a:p>
          <a:p>
            <a:pPr indent="0" lvl="0" marL="914400" rtl="0" algn="ctr">
              <a:spcBef>
                <a:spcPts val="0"/>
              </a:spcBef>
              <a:spcAft>
                <a:spcPts val="0"/>
              </a:spcAft>
              <a:buNone/>
            </a:pPr>
            <a:r>
              <a:t/>
            </a:r>
            <a:endParaRPr sz="2100">
              <a:latin typeface="Comfortaa"/>
              <a:ea typeface="Comfortaa"/>
              <a:cs typeface="Comfortaa"/>
              <a:sym typeface="Comfortaa"/>
            </a:endParaRPr>
          </a:p>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Explorar modelos tradicionais e modelos modernos</a:t>
            </a:r>
            <a:endParaRPr sz="2100">
              <a:latin typeface="Comfortaa"/>
              <a:ea typeface="Comfortaa"/>
              <a:cs typeface="Comfortaa"/>
              <a:sym typeface="Comfortaa"/>
            </a:endParaRPr>
          </a:p>
          <a:p>
            <a:pPr indent="0" lvl="0" marL="914400" rtl="0" algn="ctr">
              <a:spcBef>
                <a:spcPts val="0"/>
              </a:spcBef>
              <a:spcAft>
                <a:spcPts val="0"/>
              </a:spcAft>
              <a:buNone/>
            </a:pPr>
            <a:r>
              <a:t/>
            </a:r>
            <a:endParaRPr sz="2100">
              <a:latin typeface="Comfortaa"/>
              <a:ea typeface="Comfortaa"/>
              <a:cs typeface="Comfortaa"/>
              <a:sym typeface="Comfortaa"/>
            </a:endParaRPr>
          </a:p>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Compreender custos, limitações e boas práticas</a:t>
            </a:r>
            <a:endParaRPr sz="2100">
              <a:latin typeface="Comfortaa"/>
              <a:ea typeface="Comfortaa"/>
              <a:cs typeface="Comfortaa"/>
              <a:sym typeface="Comfortaa"/>
            </a:endParaRPr>
          </a:p>
          <a:p>
            <a:pPr indent="0" lvl="0" marL="914400" rtl="0" algn="ctr">
              <a:spcBef>
                <a:spcPts val="0"/>
              </a:spcBef>
              <a:spcAft>
                <a:spcPts val="0"/>
              </a:spcAft>
              <a:buNone/>
            </a:pPr>
            <a:r>
              <a:t/>
            </a:r>
            <a:endParaRPr sz="2100">
              <a:latin typeface="Comfortaa"/>
              <a:ea typeface="Comfortaa"/>
              <a:cs typeface="Comfortaa"/>
              <a:sym typeface="Comfortaa"/>
            </a:endParaRPr>
          </a:p>
          <a:p>
            <a:pPr indent="-361950" lvl="0" marL="457200" rtl="0" algn="ctr">
              <a:spcBef>
                <a:spcPts val="0"/>
              </a:spcBef>
              <a:spcAft>
                <a:spcPts val="0"/>
              </a:spcAft>
              <a:buSzPts val="2100"/>
              <a:buFont typeface="Comfortaa"/>
              <a:buAutoNum type="arabicPeriod"/>
            </a:pPr>
            <a:r>
              <a:rPr lang="en-US" sz="2100">
                <a:latin typeface="Comfortaa"/>
                <a:ea typeface="Comfortaa"/>
                <a:cs typeface="Comfortaa"/>
                <a:sym typeface="Comfortaa"/>
              </a:rPr>
              <a:t>Implementar um sistema funcional utilizando Python</a:t>
            </a:r>
            <a:endParaRPr sz="2100">
              <a:latin typeface="Comfortaa"/>
              <a:ea typeface="Comfortaa"/>
              <a:cs typeface="Comfortaa"/>
              <a:sym typeface="Comforta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e411364e00_0_13"/>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Bibliotecas que vamos utilizar</a:t>
            </a:r>
            <a:endParaRPr>
              <a:latin typeface="Cinzel"/>
              <a:ea typeface="Cinzel"/>
              <a:cs typeface="Cinzel"/>
              <a:sym typeface="Cinzel"/>
            </a:endParaRPr>
          </a:p>
        </p:txBody>
      </p:sp>
      <p:graphicFrame>
        <p:nvGraphicFramePr>
          <p:cNvPr id="95" name="Google Shape;95;g3e411364e00_0_13"/>
          <p:cNvGraphicFramePr/>
          <p:nvPr/>
        </p:nvGraphicFramePr>
        <p:xfrm>
          <a:off x="370200" y="1120700"/>
          <a:ext cx="3000000" cy="3000000"/>
        </p:xfrm>
        <a:graphic>
          <a:graphicData uri="http://schemas.openxmlformats.org/drawingml/2006/table">
            <a:tbl>
              <a:tblPr>
                <a:noFill/>
                <a:tableStyleId>{94E93906-3FA2-46CB-AEBB-E21ABF86EF40}</a:tableStyleId>
              </a:tblPr>
              <a:tblGrid>
                <a:gridCol w="2329375"/>
                <a:gridCol w="2329375"/>
                <a:gridCol w="2329375"/>
                <a:gridCol w="2329375"/>
              </a:tblGrid>
              <a:tr h="1031925">
                <a:tc>
                  <a:txBody>
                    <a:bodyPr/>
                    <a:lstStyle/>
                    <a:p>
                      <a:pPr indent="0" lvl="0" marL="0" rtl="0" algn="ctr">
                        <a:spcBef>
                          <a:spcPts val="0"/>
                        </a:spcBef>
                        <a:spcAft>
                          <a:spcPts val="0"/>
                        </a:spcAft>
                        <a:buNone/>
                      </a:pPr>
                      <a:r>
                        <a:rPr lang="en-US" sz="3100">
                          <a:solidFill>
                            <a:schemeClr val="accent4"/>
                          </a:solidFill>
                          <a:latin typeface="Cinzel"/>
                          <a:ea typeface="Cinzel"/>
                          <a:cs typeface="Cinzel"/>
                          <a:sym typeface="Cinzel"/>
                        </a:rPr>
                        <a:t>PLN</a:t>
                      </a:r>
                      <a:endParaRPr/>
                    </a:p>
                  </a:txBody>
                  <a:tcPr marT="91425" marB="91425" marR="91425" marL="91425" anchor="ctr"/>
                </a:tc>
                <a:tc>
                  <a:txBody>
                    <a:bodyPr/>
                    <a:lstStyle/>
                    <a:p>
                      <a:pPr indent="0" lvl="0" marL="0" rtl="0" algn="ctr">
                        <a:spcBef>
                          <a:spcPts val="0"/>
                        </a:spcBef>
                        <a:spcAft>
                          <a:spcPts val="0"/>
                        </a:spcAft>
                        <a:buNone/>
                      </a:pPr>
                      <a:r>
                        <a:rPr lang="en-US" sz="3100">
                          <a:solidFill>
                            <a:schemeClr val="accent4"/>
                          </a:solidFill>
                          <a:latin typeface="Cinzel"/>
                          <a:ea typeface="Cinzel"/>
                          <a:cs typeface="Cinzel"/>
                          <a:sym typeface="Cinzel"/>
                        </a:rPr>
                        <a:t>ML</a:t>
                      </a:r>
                      <a:endParaRPr/>
                    </a:p>
                  </a:txBody>
                  <a:tcPr marT="91425" marB="91425" marR="91425" marL="91425" anchor="ctr"/>
                </a:tc>
                <a:tc>
                  <a:txBody>
                    <a:bodyPr/>
                    <a:lstStyle/>
                    <a:p>
                      <a:pPr indent="0" lvl="0" marL="0" rtl="0" algn="ctr">
                        <a:spcBef>
                          <a:spcPts val="0"/>
                        </a:spcBef>
                        <a:spcAft>
                          <a:spcPts val="0"/>
                        </a:spcAft>
                        <a:buNone/>
                      </a:pPr>
                      <a:r>
                        <a:rPr lang="en-US" sz="3100">
                          <a:solidFill>
                            <a:schemeClr val="accent4"/>
                          </a:solidFill>
                          <a:latin typeface="Cinzel"/>
                          <a:ea typeface="Cinzel"/>
                          <a:cs typeface="Cinzel"/>
                          <a:sym typeface="Cinzel"/>
                        </a:rPr>
                        <a:t>LLM</a:t>
                      </a:r>
                      <a:endParaRPr/>
                    </a:p>
                  </a:txBody>
                  <a:tcPr marT="91425" marB="91425" marR="91425" marL="91425" anchor="ctr"/>
                </a:tc>
                <a:tc>
                  <a:txBody>
                    <a:bodyPr/>
                    <a:lstStyle/>
                    <a:p>
                      <a:pPr indent="0" lvl="0" marL="0" rtl="0" algn="ctr">
                        <a:spcBef>
                          <a:spcPts val="0"/>
                        </a:spcBef>
                        <a:spcAft>
                          <a:spcPts val="0"/>
                        </a:spcAft>
                        <a:buNone/>
                      </a:pPr>
                      <a:r>
                        <a:rPr lang="en-US" sz="3100">
                          <a:solidFill>
                            <a:schemeClr val="accent4"/>
                          </a:solidFill>
                          <a:latin typeface="Cinzel"/>
                          <a:ea typeface="Cinzel"/>
                          <a:cs typeface="Cinzel"/>
                          <a:sym typeface="Cinzel"/>
                        </a:rPr>
                        <a:t>Visual</a:t>
                      </a:r>
                      <a:endParaRPr/>
                    </a:p>
                  </a:txBody>
                  <a:tcPr marT="91425" marB="91425" marR="91425" marL="91425" anchor="ctr"/>
                </a:tc>
              </a:tr>
              <a:tr h="1031925">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NLTK</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Scikit-Learn</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Transformers</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Matplotlib</a:t>
                      </a:r>
                      <a:endParaRPr/>
                    </a:p>
                  </a:txBody>
                  <a:tcPr marT="91425" marB="91425" marR="91425" marL="91425" anchor="ctr"/>
                </a:tc>
              </a:tr>
              <a:tr h="1031925">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Spacy</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Pandas</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Hugging Face</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Seaborn</a:t>
                      </a:r>
                      <a:endParaRPr/>
                    </a:p>
                  </a:txBody>
                  <a:tcPr marT="91425" marB="91425" marR="91425" marL="91425" anchor="ctr"/>
                </a:tc>
              </a:tr>
              <a:tr h="1031925">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TextBlob</a:t>
                      </a:r>
                      <a:endParaRPr/>
                    </a:p>
                  </a:txBody>
                  <a:tcPr marT="91425" marB="91425" marR="91425" marL="91425" anchor="ctr"/>
                </a:tc>
                <a:tc>
                  <a:txBody>
                    <a:bodyPr/>
                    <a:lstStyle/>
                    <a:p>
                      <a:pPr indent="0" lvl="0" marL="0" rtl="0" algn="ctr">
                        <a:lnSpc>
                          <a:spcPct val="115000"/>
                        </a:lnSpc>
                        <a:spcBef>
                          <a:spcPts val="0"/>
                        </a:spcBef>
                        <a:spcAft>
                          <a:spcPts val="0"/>
                        </a:spcAft>
                        <a:buNone/>
                      </a:pPr>
                      <a:r>
                        <a:rPr lang="en-US" sz="2100">
                          <a:solidFill>
                            <a:schemeClr val="lt2"/>
                          </a:solidFill>
                          <a:latin typeface="Comfortaa"/>
                          <a:ea typeface="Comfortaa"/>
                          <a:cs typeface="Comfortaa"/>
                          <a:sym typeface="Comfortaa"/>
                        </a:rPr>
                        <a:t>NumPy</a:t>
                      </a:r>
                      <a:endParaRPr/>
                    </a:p>
                  </a:txBody>
                  <a:tcPr marT="91425" marB="91425" marR="91425" marL="91425" anchor="ctr"/>
                </a:tc>
                <a:tc>
                  <a:txBody>
                    <a:bodyPr/>
                    <a:lstStyle/>
                    <a:p>
                      <a:pPr indent="0" lvl="0" marL="0" rtl="0" algn="ctr">
                        <a:lnSpc>
                          <a:spcPct val="115000"/>
                        </a:lnSpc>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a39b102941_1_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O que é?</a:t>
            </a:r>
            <a:endParaRPr>
              <a:latin typeface="Cinzel"/>
              <a:ea typeface="Cinzel"/>
              <a:cs typeface="Cinzel"/>
              <a:sym typeface="Cinzel"/>
            </a:endParaRPr>
          </a:p>
        </p:txBody>
      </p:sp>
      <p:sp>
        <p:nvSpPr>
          <p:cNvPr id="101" name="Google Shape;101;g3a39b102941_1_5"/>
          <p:cNvSpPr txBox="1"/>
          <p:nvPr>
            <p:ph idx="1" type="body"/>
          </p:nvPr>
        </p:nvSpPr>
        <p:spPr>
          <a:xfrm>
            <a:off x="5530802" y="1269150"/>
            <a:ext cx="41970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Área da inteligência artificial que se dedica à interpretação, compreensão e geração de linguagem humana por computadores.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Ponte entre o que </a:t>
            </a:r>
            <a:r>
              <a:rPr lang="en-US">
                <a:latin typeface="Comfortaa"/>
                <a:ea typeface="Comfortaa"/>
                <a:cs typeface="Comfortaa"/>
                <a:sym typeface="Comfortaa"/>
              </a:rPr>
              <a:t>os seres humanos dizem ou escrevem e a capacidade das máquinas de responder de maneira coerente e contextual.</a:t>
            </a:r>
            <a:endParaRPr>
              <a:latin typeface="Comfortaa"/>
              <a:ea typeface="Comfortaa"/>
              <a:cs typeface="Comfortaa"/>
              <a:sym typeface="Comfortaa"/>
            </a:endParaRPr>
          </a:p>
        </p:txBody>
      </p:sp>
      <p:pic>
        <p:nvPicPr>
          <p:cNvPr id="102" name="Google Shape;102;g3a39b102941_1_5"/>
          <p:cNvPicPr preferRelativeResize="0"/>
          <p:nvPr/>
        </p:nvPicPr>
        <p:blipFill>
          <a:blip r:embed="rId3">
            <a:alphaModFix/>
          </a:blip>
          <a:stretch>
            <a:fillRect/>
          </a:stretch>
        </p:blipFill>
        <p:spPr>
          <a:xfrm>
            <a:off x="343300" y="1671313"/>
            <a:ext cx="5187500" cy="2957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a39b102941_1_1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funciona pln?</a:t>
            </a:r>
            <a:endParaRPr>
              <a:latin typeface="Cinzel"/>
              <a:ea typeface="Cinzel"/>
              <a:cs typeface="Cinzel"/>
              <a:sym typeface="Cinzel"/>
            </a:endParaRPr>
          </a:p>
        </p:txBody>
      </p:sp>
      <p:sp>
        <p:nvSpPr>
          <p:cNvPr id="108" name="Google Shape;108;g3a39b102941_1_15"/>
          <p:cNvSpPr txBox="1"/>
          <p:nvPr>
            <p:ph idx="1" type="body"/>
          </p:nvPr>
        </p:nvSpPr>
        <p:spPr>
          <a:xfrm>
            <a:off x="5842402" y="1269150"/>
            <a:ext cx="3885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Combina-se conceitos da linguística e da ciência da computação para permitir que máquinas entendam a linguagem natural, ou seja, como nós humanos nos comunicamos no dia a dia.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solidFill>
                  <a:srgbClr val="A61C00"/>
                </a:solidFill>
                <a:latin typeface="Comfortaa"/>
                <a:ea typeface="Comfortaa"/>
                <a:cs typeface="Comfortaa"/>
                <a:sym typeface="Comfortaa"/>
              </a:rPr>
              <a:t>Atualmente existe uma grande limitação no PLN…</a:t>
            </a:r>
            <a:endParaRPr>
              <a:solidFill>
                <a:srgbClr val="A61C00"/>
              </a:solidFill>
              <a:latin typeface="Comfortaa"/>
              <a:ea typeface="Comfortaa"/>
              <a:cs typeface="Comfortaa"/>
              <a:sym typeface="Comfortaa"/>
            </a:endParaRPr>
          </a:p>
        </p:txBody>
      </p:sp>
      <p:pic>
        <p:nvPicPr>
          <p:cNvPr id="109" name="Google Shape;109;g3a39b102941_1_15"/>
          <p:cNvPicPr preferRelativeResize="0"/>
          <p:nvPr/>
        </p:nvPicPr>
        <p:blipFill>
          <a:blip r:embed="rId3">
            <a:alphaModFix/>
          </a:blip>
          <a:stretch>
            <a:fillRect/>
          </a:stretch>
        </p:blipFill>
        <p:spPr>
          <a:xfrm>
            <a:off x="343300" y="1269150"/>
            <a:ext cx="5499100" cy="37623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39b102941_1_2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 </a:t>
            </a:r>
            <a:r>
              <a:rPr lang="en-US">
                <a:solidFill>
                  <a:schemeClr val="lt2"/>
                </a:solidFill>
                <a:latin typeface="Cinzel"/>
                <a:ea typeface="Cinzel"/>
                <a:cs typeface="Cinzel"/>
                <a:sym typeface="Cinzel"/>
              </a:rPr>
              <a:t>|</a:t>
            </a:r>
            <a:r>
              <a:rPr lang="en-US">
                <a:latin typeface="Cinzel"/>
                <a:ea typeface="Cinzel"/>
                <a:cs typeface="Cinzel"/>
                <a:sym typeface="Cinzel"/>
              </a:rPr>
              <a:t> Principais Funções</a:t>
            </a:r>
            <a:endParaRPr>
              <a:latin typeface="Cinzel"/>
              <a:ea typeface="Cinzel"/>
              <a:cs typeface="Cinzel"/>
              <a:sym typeface="Cinzel"/>
            </a:endParaRPr>
          </a:p>
        </p:txBody>
      </p:sp>
      <p:sp>
        <p:nvSpPr>
          <p:cNvPr id="115" name="Google Shape;115;g3a39b102941_1_20"/>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Análise de Sentimentos: Identificar emoções e opiniões em textos</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Tradução automática: Realizar traduções em tempo real</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Reconhecimento de fala: Converter fala em texto</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Chatbots e Assistentes Virtuais: Simulam conversas humanas</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Geração de texto automático: Criar conteúdos baseados em comandos ou padrões</a:t>
            </a:r>
            <a:endParaRPr>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39b102941_1_2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Impacto no Futuro</a:t>
            </a:r>
            <a:endParaRPr>
              <a:latin typeface="Cinzel"/>
              <a:ea typeface="Cinzel"/>
              <a:cs typeface="Cinzel"/>
              <a:sym typeface="Cinzel"/>
            </a:endParaRPr>
          </a:p>
        </p:txBody>
      </p:sp>
      <p:sp>
        <p:nvSpPr>
          <p:cNvPr id="121" name="Google Shape;121;g3a39b102941_1_25"/>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10000"/>
          </a:bodyPr>
          <a:lstStyle/>
          <a:p>
            <a:pPr indent="0" lvl="0" marL="0" rtl="0" algn="ctr">
              <a:spcBef>
                <a:spcPts val="0"/>
              </a:spcBef>
              <a:spcAft>
                <a:spcPts val="0"/>
              </a:spcAft>
              <a:buNone/>
            </a:pPr>
            <a:r>
              <a:rPr lang="en-US">
                <a:latin typeface="Comfortaa"/>
                <a:ea typeface="Comfortaa"/>
                <a:cs typeface="Comfortaa"/>
                <a:sym typeface="Comfortaa"/>
              </a:rPr>
              <a:t>Algo que já possuímos atualmente é o PLN deixando de ser apenas uma camada da interface, inclusive já sendo considerada uma área a parte da ciência e da área do desenvolvimento - “deixando” de ser uma área de pesquisa do Aprendizado de Máquina.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Alguns pontos que iremos ver o PLN trazendo um forte impacto são:</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Educação</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Saúde e bem-estar</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Produtividade</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Serviços públicos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Acessibilidade</a:t>
            </a:r>
            <a:endParaRPr>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39b102941_1_4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O que é?</a:t>
            </a:r>
            <a:endParaRPr>
              <a:latin typeface="Cinzel"/>
              <a:ea typeface="Cinzel"/>
              <a:cs typeface="Cinzel"/>
              <a:sym typeface="Cinzel"/>
            </a:endParaRPr>
          </a:p>
        </p:txBody>
      </p:sp>
      <p:sp>
        <p:nvSpPr>
          <p:cNvPr id="127" name="Google Shape;127;g3a39b102941_1_45"/>
          <p:cNvSpPr txBox="1"/>
          <p:nvPr>
            <p:ph idx="1" type="body"/>
          </p:nvPr>
        </p:nvSpPr>
        <p:spPr>
          <a:xfrm>
            <a:off x="343302" y="1269150"/>
            <a:ext cx="39708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Os LLMs ou Modelos de Linguagem de Grande Porte, tem capacidade de processar, compreender e gerar textos em linguagem natural, tornando possíveis assistentes virtuais, sistemas de recomendação e chatbots que já fazem parte do nosso cotidiano.</a:t>
            </a:r>
            <a:endParaRPr>
              <a:latin typeface="Comfortaa"/>
              <a:ea typeface="Comfortaa"/>
              <a:cs typeface="Comfortaa"/>
              <a:sym typeface="Comfortaa"/>
            </a:endParaRPr>
          </a:p>
        </p:txBody>
      </p:sp>
      <p:pic>
        <p:nvPicPr>
          <p:cNvPr id="128" name="Google Shape;128;g3a39b102941_1_45"/>
          <p:cNvPicPr preferRelativeResize="0"/>
          <p:nvPr/>
        </p:nvPicPr>
        <p:blipFill>
          <a:blip r:embed="rId3">
            <a:alphaModFix/>
          </a:blip>
          <a:stretch>
            <a:fillRect/>
          </a:stretch>
        </p:blipFill>
        <p:spPr>
          <a:xfrm>
            <a:off x="4313950" y="1269150"/>
            <a:ext cx="5413949" cy="3578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39b102941_1_5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funciona uma LLM?</a:t>
            </a:r>
            <a:endParaRPr>
              <a:latin typeface="Cinzel"/>
              <a:ea typeface="Cinzel"/>
              <a:cs typeface="Cinzel"/>
              <a:sym typeface="Cinzel"/>
            </a:endParaRPr>
          </a:p>
        </p:txBody>
      </p:sp>
      <p:sp>
        <p:nvSpPr>
          <p:cNvPr id="134" name="Google Shape;134;g3a39b102941_1_50"/>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Podemos falar que em um nível básico as LLMs são desenvolvidas com Aprendizado de Máquina. O aprendizado de máquina é um subconjunto da IA e refere-se à prática de alimentar um programa com grandes quantidades de dados para treinar o programa a identificar recursos desses dados sem intervenção humana.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LLMs utilizam o Aprendizado Profundo, eles podem essencialmente se treinar para reconhecer distinções sem intervenção humana, embora seja necessário algum ajuste fino humano.</a:t>
            </a:r>
            <a:endParaRPr>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a39b102941_1_5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 </a:t>
            </a:r>
            <a:r>
              <a:rPr lang="en-US">
                <a:solidFill>
                  <a:schemeClr val="lt2"/>
                </a:solidFill>
                <a:latin typeface="Cinzel"/>
                <a:ea typeface="Cinzel"/>
                <a:cs typeface="Cinzel"/>
                <a:sym typeface="Cinzel"/>
              </a:rPr>
              <a:t>|</a:t>
            </a:r>
            <a:r>
              <a:rPr lang="en-US">
                <a:latin typeface="Cinzel"/>
                <a:ea typeface="Cinzel"/>
                <a:cs typeface="Cinzel"/>
                <a:sym typeface="Cinzel"/>
              </a:rPr>
              <a:t> Principais Funções</a:t>
            </a:r>
            <a:endParaRPr>
              <a:latin typeface="Cinzel"/>
              <a:ea typeface="Cinzel"/>
              <a:cs typeface="Cinzel"/>
              <a:sym typeface="Cinzel"/>
            </a:endParaRPr>
          </a:p>
        </p:txBody>
      </p:sp>
      <p:sp>
        <p:nvSpPr>
          <p:cNvPr id="140" name="Google Shape;140;g3a39b102941_1_55"/>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Análise de sentimentos e monitoramento de marca</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Análise de dados não estruturados</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Criação de ferramentas de acessibilidade</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Detecção de fraudes</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Sistema de recomendação</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a39b102941_1_6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usar LLM Aberta</a:t>
            </a:r>
            <a:endParaRPr>
              <a:latin typeface="Cinzel"/>
              <a:ea typeface="Cinzel"/>
              <a:cs typeface="Cinzel"/>
              <a:sym typeface="Cinzel"/>
            </a:endParaRPr>
          </a:p>
        </p:txBody>
      </p:sp>
      <p:sp>
        <p:nvSpPr>
          <p:cNvPr id="146" name="Google Shape;146;g3a39b102941_1_60"/>
          <p:cNvSpPr txBox="1"/>
          <p:nvPr>
            <p:ph idx="1" type="body"/>
          </p:nvPr>
        </p:nvSpPr>
        <p:spPr>
          <a:xfrm>
            <a:off x="343300" y="1269150"/>
            <a:ext cx="4974600" cy="3762300"/>
          </a:xfrm>
          <a:prstGeom prst="rect">
            <a:avLst/>
          </a:prstGeom>
        </p:spPr>
        <p:txBody>
          <a:bodyPr anchorCtr="0" anchor="t" bIns="100700" lIns="100700" spcFirstLastPara="1" rIns="100700" wrap="square" tIns="100700">
            <a:normAutofit fontScale="92500" lnSpcReduction="20000"/>
          </a:bodyPr>
          <a:lstStyle/>
          <a:p>
            <a:pPr indent="0" lvl="0" marL="0" rtl="0" algn="ctr">
              <a:spcBef>
                <a:spcPts val="0"/>
              </a:spcBef>
              <a:spcAft>
                <a:spcPts val="0"/>
              </a:spcAft>
              <a:buNone/>
            </a:pPr>
            <a:r>
              <a:rPr lang="en-US">
                <a:latin typeface="Comfortaa"/>
                <a:ea typeface="Comfortaa"/>
                <a:cs typeface="Comfortaa"/>
                <a:sym typeface="Comfortaa"/>
              </a:rPr>
              <a:t>Para utilizar uma LLM aberta precisamos seguir alguns passos:</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Escolher o modelo adequado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Preparar o ambiente</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Ajustes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Teste e Validação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Integração e Produção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Atualizações e Manutenções</a:t>
            </a:r>
            <a:endParaRPr>
              <a:latin typeface="Comfortaa"/>
              <a:ea typeface="Comfortaa"/>
              <a:cs typeface="Comfortaa"/>
              <a:sym typeface="Comfortaa"/>
            </a:endParaRPr>
          </a:p>
        </p:txBody>
      </p:sp>
      <p:pic>
        <p:nvPicPr>
          <p:cNvPr id="147" name="Google Shape;147;g3a39b102941_1_60"/>
          <p:cNvPicPr preferRelativeResize="0"/>
          <p:nvPr/>
        </p:nvPicPr>
        <p:blipFill>
          <a:blip r:embed="rId3">
            <a:alphaModFix/>
          </a:blip>
          <a:stretch>
            <a:fillRect/>
          </a:stretch>
        </p:blipFill>
        <p:spPr>
          <a:xfrm>
            <a:off x="5053125" y="1311800"/>
            <a:ext cx="4674775" cy="3677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a5539bd192_0_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usar LLM Aberta</a:t>
            </a:r>
            <a:endParaRPr>
              <a:solidFill>
                <a:schemeClr val="accent4"/>
              </a:solidFill>
              <a:latin typeface="Cinzel"/>
              <a:ea typeface="Cinzel"/>
              <a:cs typeface="Cinzel"/>
              <a:sym typeface="Cinzel"/>
            </a:endParaRPr>
          </a:p>
        </p:txBody>
      </p:sp>
      <p:sp>
        <p:nvSpPr>
          <p:cNvPr id="153" name="Google Shape;153;g3a5539bd192_0_8"/>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a:latin typeface="Comfortaa"/>
                <a:ea typeface="Comfortaa"/>
                <a:cs typeface="Comfortaa"/>
                <a:sym typeface="Comfortaa"/>
              </a:rPr>
              <a:t>Existem alguns conceitos importantes quando estamos trabalhando com uma LLM aberta que precisamos saber, sendo eles:</a:t>
            </a:r>
            <a:endParaRPr>
              <a:latin typeface="Comfortaa"/>
              <a:ea typeface="Comfortaa"/>
              <a:cs typeface="Comfortaa"/>
              <a:sym typeface="Comfortaa"/>
            </a:endParaRPr>
          </a:p>
          <a:p>
            <a:pPr indent="0" lvl="0" marL="0" rtl="0" algn="ctr">
              <a:spcBef>
                <a:spcPts val="0"/>
              </a:spcBef>
              <a:spcAft>
                <a:spcPts val="0"/>
              </a:spcAft>
              <a:buNone/>
            </a:pPr>
            <a:br>
              <a:rPr lang="en-US">
                <a:latin typeface="Comfortaa"/>
                <a:ea typeface="Comfortaa"/>
                <a:cs typeface="Comfortaa"/>
                <a:sym typeface="Comfortaa"/>
              </a:rPr>
            </a:br>
            <a:r>
              <a:rPr b="1" lang="en-US">
                <a:latin typeface="Comfortaa"/>
                <a:ea typeface="Comfortaa"/>
                <a:cs typeface="Comfortaa"/>
                <a:sym typeface="Comfortaa"/>
              </a:rPr>
              <a:t>RAG (Retrieval-Augmented Generation): </a:t>
            </a:r>
            <a:r>
              <a:rPr lang="en-US">
                <a:latin typeface="Comfortaa"/>
                <a:ea typeface="Comfortaa"/>
                <a:cs typeface="Comfortaa"/>
                <a:sym typeface="Comfortaa"/>
              </a:rPr>
              <a:t>Ampliar a capacidade de resposta de LLMs, combinando o conhecimento interno do modelo de linguagem com sistemas de recuperação de informações.</a:t>
            </a:r>
            <a:endParaRPr>
              <a:latin typeface="Comfortaa"/>
              <a:ea typeface="Comfortaa"/>
              <a:cs typeface="Comfortaa"/>
              <a:sym typeface="Comfortaa"/>
            </a:endParaRPr>
          </a:p>
          <a:p>
            <a:pPr indent="0" lvl="0" marL="0" rtl="0" algn="ctr">
              <a:spcBef>
                <a:spcPts val="0"/>
              </a:spcBef>
              <a:spcAft>
                <a:spcPts val="0"/>
              </a:spcAft>
              <a:buNone/>
            </a:pPr>
            <a:r>
              <a:t/>
            </a:r>
            <a:endParaRPr b="1">
              <a:latin typeface="Comfortaa"/>
              <a:ea typeface="Comfortaa"/>
              <a:cs typeface="Comfortaa"/>
              <a:sym typeface="Comfortaa"/>
            </a:endParaRPr>
          </a:p>
          <a:p>
            <a:pPr indent="0" lvl="0" marL="0" rtl="0" algn="ctr">
              <a:spcBef>
                <a:spcPts val="0"/>
              </a:spcBef>
              <a:spcAft>
                <a:spcPts val="0"/>
              </a:spcAft>
              <a:buNone/>
            </a:pPr>
            <a:r>
              <a:rPr b="1" lang="en-US">
                <a:latin typeface="Comfortaa"/>
                <a:ea typeface="Comfortaa"/>
                <a:cs typeface="Comfortaa"/>
                <a:sym typeface="Comfortaa"/>
              </a:rPr>
              <a:t>Fine-Tunning: </a:t>
            </a:r>
            <a:r>
              <a:rPr lang="en-US">
                <a:latin typeface="Comfortaa"/>
                <a:ea typeface="Comfortaa"/>
                <a:cs typeface="Comfortaa"/>
                <a:sym typeface="Comfortaa"/>
              </a:rPr>
              <a:t>Processo que permite adaptar modelos de Inteligência Artificial pré-treinados para tarefas ou domínios específicos, utilizando datasets menores e direcionados.</a:t>
            </a:r>
            <a:endParaRPr>
              <a:latin typeface="Comfortaa"/>
              <a:ea typeface="Comfortaa"/>
              <a:cs typeface="Comfortaa"/>
              <a:sym typeface="Comforta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411364e00_0_19"/>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ML</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O que é a ML?</a:t>
            </a:r>
            <a:endParaRPr>
              <a:solidFill>
                <a:schemeClr val="accent4"/>
              </a:solidFill>
              <a:latin typeface="Cinzel"/>
              <a:ea typeface="Cinzel"/>
              <a:cs typeface="Cinzel"/>
              <a:sym typeface="Cinzel"/>
            </a:endParaRPr>
          </a:p>
        </p:txBody>
      </p:sp>
      <p:sp>
        <p:nvSpPr>
          <p:cNvPr id="159" name="Google Shape;159;g3e411364e00_0_19"/>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a:latin typeface="Comfortaa"/>
                <a:ea typeface="Comfortaa"/>
                <a:cs typeface="Comfortaa"/>
                <a:sym typeface="Comfortaa"/>
              </a:rPr>
              <a:t>Machine Learning (ML) ou Aprendizado de Máquina é uma área da</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Inteligência Artificial responsável por permitir que computadores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aprendam padrões a partir de dados, sem serem explicitamente</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programados para cada tarefa.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Ao invés de seguir apenas regras fixas, os modelos de ML conseguem</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identificar comportamentos, relações e tendências nos dados,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realizando previsões, classificações e tomadas de decisão.</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No contexto da análise emocional, o ML é utilizado para aprender</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como emoções aparecem em textos e classificá-las automaticamente.</a:t>
            </a:r>
            <a:endParaRPr>
              <a:latin typeface="Comfortaa"/>
              <a:ea typeface="Comfortaa"/>
              <a:cs typeface="Comfortaa"/>
              <a:sym typeface="Comforta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e411364e00_0_3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ML</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funciona?</a:t>
            </a:r>
            <a:endParaRPr>
              <a:solidFill>
                <a:schemeClr val="accent4"/>
              </a:solidFill>
              <a:latin typeface="Cinzel"/>
              <a:ea typeface="Cinzel"/>
              <a:cs typeface="Cinzel"/>
              <a:sym typeface="Cinzel"/>
            </a:endParaRPr>
          </a:p>
        </p:txBody>
      </p:sp>
      <p:sp>
        <p:nvSpPr>
          <p:cNvPr id="165" name="Google Shape;165;g3e411364e00_0_34"/>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a:latin typeface="Comfortaa"/>
                <a:ea typeface="Comfortaa"/>
                <a:cs typeface="Comfortaa"/>
                <a:sym typeface="Comfortaa"/>
              </a:rPr>
              <a:t>O Machine Learning funciona através do treinamento de modelos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utilizando grandes quantidades de dados.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O processo geralmente segue as seguintes etapas: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1. Coleta de dados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2. Pré-processamento</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3. Transformação dos dados em vetores numéricos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4. Treinamento do modelo</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5. Avaliação de desempenho</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6. Predição de novos dados</a:t>
            </a:r>
            <a:endParaRPr>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e411364e00_0_39"/>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ML</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Principais funções</a:t>
            </a:r>
            <a:endParaRPr>
              <a:solidFill>
                <a:schemeClr val="accent4"/>
              </a:solidFill>
              <a:latin typeface="Cinzel"/>
              <a:ea typeface="Cinzel"/>
              <a:cs typeface="Cinzel"/>
              <a:sym typeface="Cinzel"/>
            </a:endParaRPr>
          </a:p>
        </p:txBody>
      </p:sp>
      <p:sp>
        <p:nvSpPr>
          <p:cNvPr id="171" name="Google Shape;171;g3e411364e00_0_39"/>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a:latin typeface="Comfortaa"/>
                <a:ea typeface="Comfortaa"/>
                <a:cs typeface="Comfortaa"/>
                <a:sym typeface="Comfortaa"/>
              </a:rPr>
              <a:t>1. Classificação de dados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2. Reconhecimento de padrões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3. Sistemas de recomendação</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4. Previsões e análises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5. Detecção de fraudes</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6. Automação inteligente</a:t>
            </a:r>
            <a:endParaRPr>
              <a:latin typeface="Comfortaa"/>
              <a:ea typeface="Comfortaa"/>
              <a:cs typeface="Comfortaa"/>
              <a:sym typeface="Comforta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e8120daf28_0_3"/>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ML</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Tipos de Aprendizado</a:t>
            </a:r>
            <a:endParaRPr>
              <a:solidFill>
                <a:schemeClr val="accent4"/>
              </a:solidFill>
              <a:latin typeface="Cinzel"/>
              <a:ea typeface="Cinzel"/>
              <a:cs typeface="Cinzel"/>
              <a:sym typeface="Cinzel"/>
            </a:endParaRPr>
          </a:p>
        </p:txBody>
      </p:sp>
      <p:pic>
        <p:nvPicPr>
          <p:cNvPr id="177" name="Google Shape;177;g3e8120daf28_0_3"/>
          <p:cNvPicPr preferRelativeResize="0"/>
          <p:nvPr/>
        </p:nvPicPr>
        <p:blipFill>
          <a:blip r:embed="rId3">
            <a:alphaModFix/>
          </a:blip>
          <a:stretch>
            <a:fillRect/>
          </a:stretch>
        </p:blipFill>
        <p:spPr>
          <a:xfrm>
            <a:off x="1759225" y="1153952"/>
            <a:ext cx="6552757" cy="42387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a39b102941_1_70"/>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a:solidFill>
                  <a:srgbClr val="CC0000"/>
                </a:solidFill>
                <a:latin typeface="Cinzel ExtraBold"/>
                <a:ea typeface="Cinzel ExtraBold"/>
                <a:cs typeface="Cinzel ExtraBold"/>
                <a:sym typeface="Cinzel ExtraBold"/>
              </a:rPr>
              <a:t>Relação PLN X LLM X ML</a:t>
            </a:r>
            <a:endParaRPr>
              <a:solidFill>
                <a:srgbClr val="CC0000"/>
              </a:solidFill>
              <a:latin typeface="Cinzel ExtraBold"/>
              <a:ea typeface="Cinzel ExtraBold"/>
              <a:cs typeface="Cinzel ExtraBold"/>
              <a:sym typeface="Cinzel ExtraBold"/>
            </a:endParaRPr>
          </a:p>
        </p:txBody>
      </p:sp>
      <p:sp>
        <p:nvSpPr>
          <p:cNvPr id="183" name="Google Shape;183;g3a39b102941_1_70"/>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lnSpc>
                <a:spcPct val="95000"/>
              </a:lnSpc>
              <a:spcBef>
                <a:spcPts val="0"/>
              </a:spcBef>
              <a:spcAft>
                <a:spcPts val="0"/>
              </a:spcAft>
              <a:buNone/>
            </a:pPr>
            <a:r>
              <a:rPr lang="en-US" sz="1550">
                <a:latin typeface="Comfortaa"/>
                <a:ea typeface="Comfortaa"/>
                <a:cs typeface="Comfortaa"/>
                <a:sym typeface="Comfortaa"/>
              </a:rPr>
              <a:t>O Machine Learning (ML) é uma grande área da Inteligência Artificial</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responsável por criar modelos capazes de aprender com dados.</a:t>
            </a:r>
            <a:endParaRPr sz="1550">
              <a:latin typeface="Comfortaa"/>
              <a:ea typeface="Comfortaa"/>
              <a:cs typeface="Comfortaa"/>
              <a:sym typeface="Comfortaa"/>
            </a:endParaRPr>
          </a:p>
          <a:p>
            <a:pPr indent="0" lvl="0" marL="0" rtl="0" algn="ctr">
              <a:lnSpc>
                <a:spcPct val="95000"/>
              </a:lnSpc>
              <a:spcBef>
                <a:spcPts val="0"/>
              </a:spcBef>
              <a:spcAft>
                <a:spcPts val="0"/>
              </a:spcAft>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O Processamento de Linguagem Natural (PLN/NLP) é uma área que</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utiliza técnicas computacionais para permitir que máquinas entendam</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a linguagem humana.</a:t>
            </a:r>
            <a:endParaRPr sz="1550">
              <a:latin typeface="Comfortaa"/>
              <a:ea typeface="Comfortaa"/>
              <a:cs typeface="Comfortaa"/>
              <a:sym typeface="Comfortaa"/>
            </a:endParaRPr>
          </a:p>
          <a:p>
            <a:pPr indent="0" lvl="0" marL="0" rtl="0" algn="ctr">
              <a:lnSpc>
                <a:spcPct val="95000"/>
              </a:lnSpc>
              <a:spcBef>
                <a:spcPts val="0"/>
              </a:spcBef>
              <a:spcAft>
                <a:spcPts val="0"/>
              </a:spcAft>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Já os LLMs (Large Language Models) são modelos avançados de</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Machine Learning treinados em enormes volumes de texto utilizando</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Deep Learning.</a:t>
            </a:r>
            <a:endParaRPr sz="1550">
              <a:latin typeface="Comfortaa"/>
              <a:ea typeface="Comfortaa"/>
              <a:cs typeface="Comfortaa"/>
              <a:sym typeface="Comfortaa"/>
            </a:endParaRPr>
          </a:p>
          <a:p>
            <a:pPr indent="0" lvl="0" marL="0" rtl="0" algn="ctr">
              <a:lnSpc>
                <a:spcPct val="95000"/>
              </a:lnSpc>
              <a:spcBef>
                <a:spcPts val="0"/>
              </a:spcBef>
              <a:spcAft>
                <a:spcPts val="0"/>
              </a:spcAft>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Enquanto o PLN tradicional trabalha com técnicas estruturadas e</a:t>
            </a:r>
            <a:endParaRPr sz="1550">
              <a:latin typeface="Comfortaa"/>
              <a:ea typeface="Comfortaa"/>
              <a:cs typeface="Comfortaa"/>
              <a:sym typeface="Comfortaa"/>
            </a:endParaRPr>
          </a:p>
          <a:p>
            <a:pPr indent="0" lvl="0" marL="0" rtl="0" algn="ctr">
              <a:lnSpc>
                <a:spcPct val="95000"/>
              </a:lnSpc>
              <a:spcBef>
                <a:spcPts val="0"/>
              </a:spcBef>
              <a:spcAft>
                <a:spcPts val="0"/>
              </a:spcAft>
              <a:buNone/>
            </a:pPr>
            <a:r>
              <a:rPr lang="en-US" sz="1550">
                <a:latin typeface="Comfortaa"/>
                <a:ea typeface="Comfortaa"/>
                <a:cs typeface="Comfortaa"/>
                <a:sym typeface="Comfortaa"/>
              </a:rPr>
              <a:t>estatísticas, os LLMs conseguem compreender contexto, nuances,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intenções e emoções de forma muito mais avançada.</a:t>
            </a:r>
            <a:endParaRPr sz="1550">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39b102941_1_80"/>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Importância da Análise Emocional</a:t>
            </a:r>
            <a:endParaRPr>
              <a:solidFill>
                <a:schemeClr val="accent4"/>
              </a:solidFill>
              <a:latin typeface="Cinzel"/>
              <a:ea typeface="Cinzel"/>
              <a:cs typeface="Cinzel"/>
              <a:sym typeface="Cinzel"/>
            </a:endParaRPr>
          </a:p>
        </p:txBody>
      </p:sp>
      <p:sp>
        <p:nvSpPr>
          <p:cNvPr id="189" name="Google Shape;189;g3a39b102941_1_80"/>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Com o crescimento das redes sociais e plataformas digitais,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milhões de opiniões e emoções são compartilhadas diariamente.</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A análise emocional permite identificar automaticamente sentimentos,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emoções e intenções presentes em textos, auxiliando empresas,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pesquisadores e sistemas inteligentes na tomada de decisões.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Atualmente, a análise emocional é aplicada em diversas áreas: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Monitoramento de redes sociais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Atendimento ao cliente</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Sistemas de recomendação</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Saúde mental</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Segurança digital</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 Marketing e reputação de marcas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Além disso, compreender emoções em textos é um dos problemas</a:t>
            </a:r>
            <a:endParaRPr sz="1550">
              <a:latin typeface="Comfortaa"/>
              <a:ea typeface="Comfortaa"/>
              <a:cs typeface="Comfortaa"/>
              <a:sym typeface="Comfortaa"/>
            </a:endParaRPr>
          </a:p>
          <a:p>
            <a:pPr indent="0" lvl="0" marL="0" rtl="0" algn="ctr">
              <a:lnSpc>
                <a:spcPct val="95000"/>
              </a:lnSpc>
              <a:spcBef>
                <a:spcPts val="0"/>
              </a:spcBef>
              <a:spcAft>
                <a:spcPts val="0"/>
              </a:spcAft>
              <a:buSzPts val="688"/>
              <a:buNone/>
            </a:pPr>
            <a:r>
              <a:rPr lang="en-US" sz="1550">
                <a:latin typeface="Comfortaa"/>
                <a:ea typeface="Comfortaa"/>
                <a:cs typeface="Comfortaa"/>
                <a:sym typeface="Comfortaa"/>
              </a:rPr>
              <a:t>mais importantes e desafiadores do PLN moderno.</a:t>
            </a:r>
            <a:endParaRPr sz="1550">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a39b102941_1_8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Tokenização</a:t>
            </a:r>
            <a:endParaRPr>
              <a:latin typeface="Cinzel"/>
              <a:ea typeface="Cinzel"/>
              <a:cs typeface="Cinzel"/>
              <a:sym typeface="Cinzel"/>
            </a:endParaRPr>
          </a:p>
        </p:txBody>
      </p:sp>
      <p:sp>
        <p:nvSpPr>
          <p:cNvPr id="195" name="Google Shape;195;g3a39b102941_1_85"/>
          <p:cNvSpPr txBox="1"/>
          <p:nvPr>
            <p:ph idx="1" type="body"/>
          </p:nvPr>
        </p:nvSpPr>
        <p:spPr>
          <a:xfrm>
            <a:off x="343302" y="1269150"/>
            <a:ext cx="28086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t>Como mostrado na imagem é o processo de dividir uma frase em palavras ou tokens individuais. É importante ressaltar que os tokens não são necessariamente apenas uma palavra e que caracteres especiais são removidos.</a:t>
            </a:r>
            <a:endParaRPr/>
          </a:p>
        </p:txBody>
      </p:sp>
      <p:pic>
        <p:nvPicPr>
          <p:cNvPr id="196" name="Google Shape;196;g3a39b102941_1_85"/>
          <p:cNvPicPr preferRelativeResize="0"/>
          <p:nvPr/>
        </p:nvPicPr>
        <p:blipFill>
          <a:blip r:embed="rId3">
            <a:alphaModFix/>
          </a:blip>
          <a:stretch>
            <a:fillRect/>
          </a:stretch>
        </p:blipFill>
        <p:spPr>
          <a:xfrm>
            <a:off x="3151950" y="1269153"/>
            <a:ext cx="6575953" cy="3762300"/>
          </a:xfrm>
          <a:prstGeom prst="rect">
            <a:avLst/>
          </a:prstGeom>
          <a:noFill/>
          <a:ln>
            <a:noFill/>
          </a:ln>
        </p:spPr>
      </p:pic>
      <p:cxnSp>
        <p:nvCxnSpPr>
          <p:cNvPr id="197" name="Google Shape;197;g3a39b102941_1_85"/>
          <p:cNvCxnSpPr/>
          <p:nvPr/>
        </p:nvCxnSpPr>
        <p:spPr>
          <a:xfrm>
            <a:off x="8157275" y="3764900"/>
            <a:ext cx="705900" cy="972600"/>
          </a:xfrm>
          <a:prstGeom prst="straightConnector1">
            <a:avLst/>
          </a:prstGeom>
          <a:noFill/>
          <a:ln cap="flat" cmpd="sng" w="152400">
            <a:solidFill>
              <a:srgbClr val="FF0000"/>
            </a:solidFill>
            <a:prstDash val="solid"/>
            <a:round/>
            <a:headEnd len="med" w="med" type="none"/>
            <a:tailEnd len="med" w="med" type="none"/>
          </a:ln>
        </p:spPr>
      </p:cxnSp>
      <p:cxnSp>
        <p:nvCxnSpPr>
          <p:cNvPr id="198" name="Google Shape;198;g3a39b102941_1_85"/>
          <p:cNvCxnSpPr/>
          <p:nvPr/>
        </p:nvCxnSpPr>
        <p:spPr>
          <a:xfrm flipH="1">
            <a:off x="8235725" y="3906200"/>
            <a:ext cx="549000" cy="8313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5539bd192_0_16"/>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Tipos de Tokenização</a:t>
            </a:r>
            <a:endParaRPr>
              <a:latin typeface="Cinzel"/>
              <a:ea typeface="Cinzel"/>
              <a:cs typeface="Cinzel"/>
              <a:sym typeface="Cinzel"/>
            </a:endParaRPr>
          </a:p>
        </p:txBody>
      </p:sp>
      <p:sp>
        <p:nvSpPr>
          <p:cNvPr id="204" name="Google Shape;204;g3a5539bd192_0_16"/>
          <p:cNvSpPr txBox="1"/>
          <p:nvPr>
            <p:ph idx="1" type="body"/>
          </p:nvPr>
        </p:nvSpPr>
        <p:spPr>
          <a:xfrm>
            <a:off x="343295" y="1269150"/>
            <a:ext cx="9384600" cy="3762300"/>
          </a:xfrm>
          <a:prstGeom prst="rect">
            <a:avLst/>
          </a:prstGeom>
        </p:spPr>
        <p:txBody>
          <a:bodyPr anchorCtr="0" anchor="t" bIns="100700" lIns="100700" spcFirstLastPara="1" rIns="100700" wrap="square" tIns="100700">
            <a:normAutofit lnSpcReduction="10000"/>
          </a:bodyPr>
          <a:lstStyle/>
          <a:p>
            <a:pPr indent="-355600" lvl="0" marL="457200" rtl="0" algn="ctr">
              <a:spcBef>
                <a:spcPts val="0"/>
              </a:spcBef>
              <a:spcAft>
                <a:spcPts val="0"/>
              </a:spcAft>
              <a:buSzPts val="2000"/>
              <a:buAutoNum type="arabicPeriod"/>
            </a:pPr>
            <a:r>
              <a:rPr b="1" lang="en-US"/>
              <a:t>Tokenização de Palavras: </a:t>
            </a:r>
            <a:r>
              <a:rPr lang="en-US"/>
              <a:t>Divide o texto em palavras individuais. Abordagem eficaz para idiomas com limites claros de palavras.</a:t>
            </a:r>
            <a:endParaRPr/>
          </a:p>
          <a:p>
            <a:pPr indent="0" lvl="0" marL="457200" rtl="0" algn="ctr">
              <a:spcBef>
                <a:spcPts val="0"/>
              </a:spcBef>
              <a:spcAft>
                <a:spcPts val="0"/>
              </a:spcAft>
              <a:buNone/>
            </a:pPr>
            <a:r>
              <a:t/>
            </a:r>
            <a:endParaRPr/>
          </a:p>
          <a:p>
            <a:pPr indent="-355600" lvl="0" marL="457200" rtl="0" algn="ctr">
              <a:spcBef>
                <a:spcPts val="0"/>
              </a:spcBef>
              <a:spcAft>
                <a:spcPts val="0"/>
              </a:spcAft>
              <a:buSzPts val="2000"/>
              <a:buAutoNum type="arabicPeriod"/>
            </a:pPr>
            <a:r>
              <a:rPr b="1" lang="en-US"/>
              <a:t>Tokenização de Caracteres: </a:t>
            </a:r>
            <a:r>
              <a:rPr lang="en-US"/>
              <a:t>O texto é segmentado em caracteres individuais. Abordagem útil para idiomas que não tem limites claros de palavras ou tarefas que exigem análise granular.</a:t>
            </a:r>
            <a:endParaRPr/>
          </a:p>
          <a:p>
            <a:pPr indent="0" lvl="0" marL="457200" rtl="0" algn="ctr">
              <a:spcBef>
                <a:spcPts val="0"/>
              </a:spcBef>
              <a:spcAft>
                <a:spcPts val="0"/>
              </a:spcAft>
              <a:buNone/>
            </a:pPr>
            <a:r>
              <a:t/>
            </a:r>
            <a:endParaRPr/>
          </a:p>
          <a:p>
            <a:pPr indent="-355600" lvl="0" marL="457200" rtl="0" algn="ctr">
              <a:spcBef>
                <a:spcPts val="0"/>
              </a:spcBef>
              <a:spcAft>
                <a:spcPts val="0"/>
              </a:spcAft>
              <a:buSzPts val="2000"/>
              <a:buAutoNum type="arabicPeriod"/>
            </a:pPr>
            <a:r>
              <a:rPr b="1" lang="en-US"/>
              <a:t>Tokenização de Subpalavras: </a:t>
            </a:r>
            <a:r>
              <a:rPr lang="en-US"/>
              <a:t>Esse método divide o texto em unidades que podem ser maiores que um único caractere, mas menor que uma palavra. Abordagem útil para idiomas que formam significado combinando unidades menores ou ao lidar com palavras fora do vocabulário em tarefas PLN.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a39b102941_1_9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Stopwords</a:t>
            </a:r>
            <a:endParaRPr>
              <a:latin typeface="Cinzel"/>
              <a:ea typeface="Cinzel"/>
              <a:cs typeface="Cinzel"/>
              <a:sym typeface="Cinzel"/>
            </a:endParaRPr>
          </a:p>
        </p:txBody>
      </p:sp>
      <p:sp>
        <p:nvSpPr>
          <p:cNvPr id="210" name="Google Shape;210;g3a39b102941_1_90"/>
          <p:cNvSpPr txBox="1"/>
          <p:nvPr>
            <p:ph idx="1" type="body"/>
          </p:nvPr>
        </p:nvSpPr>
        <p:spPr>
          <a:xfrm>
            <a:off x="343302" y="1269150"/>
            <a:ext cx="35313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Técnica que faz a remoção de ruídos do texto que são menos evidentes que pontuações, como os conectivos “que”, “o”, “a”, “de”, entre outros. Quase todos os textos possuem conectivos e palavras comuns que não são significativas para nosso modelo.</a:t>
            </a:r>
            <a:endParaRPr>
              <a:latin typeface="Comfortaa"/>
              <a:ea typeface="Comfortaa"/>
              <a:cs typeface="Comfortaa"/>
              <a:sym typeface="Comfortaa"/>
            </a:endParaRPr>
          </a:p>
        </p:txBody>
      </p:sp>
      <p:pic>
        <p:nvPicPr>
          <p:cNvPr id="211" name="Google Shape;211;g3a39b102941_1_90"/>
          <p:cNvPicPr preferRelativeResize="0"/>
          <p:nvPr/>
        </p:nvPicPr>
        <p:blipFill>
          <a:blip r:embed="rId3">
            <a:alphaModFix/>
          </a:blip>
          <a:stretch>
            <a:fillRect/>
          </a:stretch>
        </p:blipFill>
        <p:spPr>
          <a:xfrm>
            <a:off x="3874700" y="1269150"/>
            <a:ext cx="5853201" cy="376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a5539bd192_0_31"/>
          <p:cNvSpPr txBox="1"/>
          <p:nvPr>
            <p:ph type="title"/>
          </p:nvPr>
        </p:nvSpPr>
        <p:spPr>
          <a:xfrm>
            <a:off x="343303" y="490077"/>
            <a:ext cx="9384600" cy="6306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Stemming X Lemmatização</a:t>
            </a:r>
            <a:endParaRPr/>
          </a:p>
        </p:txBody>
      </p:sp>
      <p:sp>
        <p:nvSpPr>
          <p:cNvPr id="217" name="Google Shape;217;g3a5539bd192_0_31"/>
          <p:cNvSpPr txBox="1"/>
          <p:nvPr>
            <p:ph idx="1" type="body"/>
          </p:nvPr>
        </p:nvSpPr>
        <p:spPr>
          <a:xfrm>
            <a:off x="343303" y="1269145"/>
            <a:ext cx="4405500" cy="3762300"/>
          </a:xfrm>
          <a:prstGeom prst="rect">
            <a:avLst/>
          </a:prstGeom>
        </p:spPr>
        <p:txBody>
          <a:bodyPr anchorCtr="0" anchor="t" bIns="100700" lIns="100700" spcFirstLastPara="1" rIns="100700" wrap="square" tIns="100700">
            <a:normAutofit/>
          </a:bodyPr>
          <a:lstStyle/>
          <a:p>
            <a:pPr indent="0" lvl="0" marL="0" rtl="0" algn="l">
              <a:spcBef>
                <a:spcPts val="0"/>
              </a:spcBef>
              <a:spcAft>
                <a:spcPts val="0"/>
              </a:spcAft>
              <a:buNone/>
            </a:pPr>
            <a:r>
              <a:rPr lang="en-US" sz="2000">
                <a:latin typeface="Comfortaa"/>
                <a:ea typeface="Comfortaa"/>
                <a:cs typeface="Comfortaa"/>
                <a:sym typeface="Comfortaa"/>
              </a:rPr>
              <a:t>O Stemming reduz uma palavra ao seu radical (stem) — a base comum das suas variações — sem considerar a gramática ou o significado linguístico. Ele remove sufixos e prefixos de forma mecânica, geralmente por regras heurísticas simples, como: retirar “-ando”, “-endo”, “-es”, “-mente” no português.</a:t>
            </a:r>
            <a:endParaRPr sz="2000">
              <a:latin typeface="Comfortaa"/>
              <a:ea typeface="Comfortaa"/>
              <a:cs typeface="Comfortaa"/>
              <a:sym typeface="Comfortaa"/>
            </a:endParaRPr>
          </a:p>
        </p:txBody>
      </p:sp>
      <p:sp>
        <p:nvSpPr>
          <p:cNvPr id="218" name="Google Shape;218;g3a5539bd192_0_31"/>
          <p:cNvSpPr txBox="1"/>
          <p:nvPr>
            <p:ph idx="2" type="body"/>
          </p:nvPr>
        </p:nvSpPr>
        <p:spPr>
          <a:xfrm>
            <a:off x="5322352" y="1269145"/>
            <a:ext cx="4405500" cy="3762300"/>
          </a:xfrm>
          <a:prstGeom prst="rect">
            <a:avLst/>
          </a:prstGeom>
        </p:spPr>
        <p:txBody>
          <a:bodyPr anchorCtr="0" anchor="t" bIns="100700" lIns="100700" spcFirstLastPara="1" rIns="100700" wrap="square" tIns="100700">
            <a:normAutofit lnSpcReduction="20000"/>
          </a:bodyPr>
          <a:lstStyle/>
          <a:p>
            <a:pPr indent="0" lvl="0" marL="0" rtl="0" algn="l">
              <a:spcBef>
                <a:spcPts val="0"/>
              </a:spcBef>
              <a:spcAft>
                <a:spcPts val="0"/>
              </a:spcAft>
              <a:buNone/>
            </a:pPr>
            <a:r>
              <a:rPr lang="en-US" sz="2000">
                <a:latin typeface="Comfortaa"/>
                <a:ea typeface="Comfortaa"/>
                <a:cs typeface="Comfortaa"/>
                <a:sym typeface="Comfortaa"/>
              </a:rPr>
              <a:t>A Lemmatização reduz uma palavra à sua forma canônica (lema), levando em conta a gramática e o vocabulário. É o processo de encontrar o “dicionário” da palavra, usando análise morfossintática (POS tagging). Identifica a categoria gramatical (verbo, substantivo, adjetivo etc.); Consulta um vocabulário linguístico para encontrar o lema correto.</a:t>
            </a:r>
            <a:endParaRPr sz="2000">
              <a:latin typeface="Comfortaa"/>
              <a:ea typeface="Comfortaa"/>
              <a:cs typeface="Comfortaa"/>
              <a:sym typeface="Comforta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a5539bd192_0_25"/>
          <p:cNvSpPr txBox="1"/>
          <p:nvPr>
            <p:ph type="title"/>
          </p:nvPr>
        </p:nvSpPr>
        <p:spPr>
          <a:xfrm>
            <a:off x="343303" y="490077"/>
            <a:ext cx="9384600" cy="630600"/>
          </a:xfrm>
          <a:prstGeom prst="rect">
            <a:avLst/>
          </a:prstGeom>
        </p:spPr>
        <p:txBody>
          <a:bodyPr anchorCtr="0" anchor="ctr" bIns="100700" lIns="100700" spcFirstLastPara="1" rIns="100700" wrap="square" tIns="100700">
            <a:noAutofit/>
          </a:bodyPr>
          <a:lstStyle/>
          <a:p>
            <a:pPr indent="0" lvl="0" marL="0" rtl="0" algn="ctr">
              <a:spcBef>
                <a:spcPts val="0"/>
              </a:spcBef>
              <a:spcAft>
                <a:spcPts val="0"/>
              </a:spcAft>
              <a:buSzPts val="990"/>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Stemming X Lemmatização</a:t>
            </a:r>
            <a:endParaRPr sz="2590">
              <a:latin typeface="Cinzel"/>
              <a:ea typeface="Cinzel"/>
              <a:cs typeface="Cinzel"/>
              <a:sym typeface="Cinzel"/>
            </a:endParaRPr>
          </a:p>
        </p:txBody>
      </p:sp>
      <p:pic>
        <p:nvPicPr>
          <p:cNvPr id="224" name="Google Shape;224;g3a5539bd192_0_25"/>
          <p:cNvPicPr preferRelativeResize="0"/>
          <p:nvPr/>
        </p:nvPicPr>
        <p:blipFill>
          <a:blip r:embed="rId3">
            <a:alphaModFix/>
          </a:blip>
          <a:stretch>
            <a:fillRect/>
          </a:stretch>
        </p:blipFill>
        <p:spPr>
          <a:xfrm>
            <a:off x="343300" y="1120675"/>
            <a:ext cx="9384600" cy="42489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39b102941_1_10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Representação Vetorial</a:t>
            </a:r>
            <a:endParaRPr sz="2690">
              <a:latin typeface="Cinzel"/>
              <a:ea typeface="Cinzel"/>
              <a:cs typeface="Cinzel"/>
              <a:sym typeface="Cinzel"/>
            </a:endParaRPr>
          </a:p>
        </p:txBody>
      </p:sp>
      <p:sp>
        <p:nvSpPr>
          <p:cNvPr id="230" name="Google Shape;230;g3a39b102941_1_105"/>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Vetorização é um termo técnico para uma abordagem clássica de conversão de dados de entrada de seu formato bruto (ou seja, texto) em vetores de números reais, que é o formato suportado por modelos de aprendizado de máquina. Essa abordagem existe desde a invenção dos computadores, tem funcionado maravilhosamente bem em diversas áreas e agora é usada em PNL (Processamento de Linguagem Natural). Em aprendizado de máquina, a vetorização é uma etapa na extração de características. A ideia é obter características distintas do texto para que o modelo possa treiná-lo, convertendo o texto em vetores numéricos.</a:t>
            </a:r>
            <a:endParaRPr>
              <a:latin typeface="Comfortaa"/>
              <a:ea typeface="Comfortaa"/>
              <a:cs typeface="Comfortaa"/>
              <a:sym typeface="Comforta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a5539bd192_0_4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Bag of Words</a:t>
            </a:r>
            <a:endParaRPr sz="2690">
              <a:latin typeface="Cinzel"/>
              <a:ea typeface="Cinzel"/>
              <a:cs typeface="Cinzel"/>
              <a:sym typeface="Cinzel"/>
            </a:endParaRPr>
          </a:p>
        </p:txBody>
      </p:sp>
      <p:sp>
        <p:nvSpPr>
          <p:cNvPr id="236" name="Google Shape;236;g3a5539bd192_0_44"/>
          <p:cNvSpPr txBox="1"/>
          <p:nvPr>
            <p:ph idx="1" type="body"/>
          </p:nvPr>
        </p:nvSpPr>
        <p:spPr>
          <a:xfrm>
            <a:off x="343302" y="1269150"/>
            <a:ext cx="33033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Ténica mais simples existente, envolve três operações: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Tokenização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Criação de vocabulário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Criação vetorial</a:t>
            </a:r>
            <a:endParaRPr>
              <a:latin typeface="Comfortaa"/>
              <a:ea typeface="Comfortaa"/>
              <a:cs typeface="Comfortaa"/>
              <a:sym typeface="Comfortaa"/>
            </a:endParaRPr>
          </a:p>
        </p:txBody>
      </p:sp>
      <p:pic>
        <p:nvPicPr>
          <p:cNvPr id="237" name="Google Shape;237;g3a5539bd192_0_44"/>
          <p:cNvPicPr preferRelativeResize="0"/>
          <p:nvPr/>
        </p:nvPicPr>
        <p:blipFill>
          <a:blip r:embed="rId3">
            <a:alphaModFix/>
          </a:blip>
          <a:stretch>
            <a:fillRect/>
          </a:stretch>
        </p:blipFill>
        <p:spPr>
          <a:xfrm>
            <a:off x="3646700" y="1269151"/>
            <a:ext cx="6081200" cy="3762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a39b102941_1_11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TF-IDF</a:t>
            </a:r>
            <a:endParaRPr sz="2690">
              <a:latin typeface="Cinzel"/>
              <a:ea typeface="Cinzel"/>
              <a:cs typeface="Cinzel"/>
              <a:sym typeface="Cinzel"/>
            </a:endParaRPr>
          </a:p>
        </p:txBody>
      </p:sp>
      <p:sp>
        <p:nvSpPr>
          <p:cNvPr id="243" name="Google Shape;243;g3a39b102941_1_110"/>
          <p:cNvSpPr txBox="1"/>
          <p:nvPr>
            <p:ph idx="1" type="body"/>
          </p:nvPr>
        </p:nvSpPr>
        <p:spPr>
          <a:xfrm>
            <a:off x="343300" y="1269150"/>
            <a:ext cx="3657000" cy="3762300"/>
          </a:xfrm>
          <a:prstGeom prst="rect">
            <a:avLst/>
          </a:prstGeom>
        </p:spPr>
        <p:txBody>
          <a:bodyPr anchorCtr="0" anchor="t" bIns="100700" lIns="100700" spcFirstLastPara="1" rIns="100700" wrap="square" tIns="100700">
            <a:normAutofit fontScale="92500" lnSpcReduction="10000"/>
          </a:bodyPr>
          <a:lstStyle/>
          <a:p>
            <a:pPr indent="0" lvl="0" marL="0" rtl="0" algn="ctr">
              <a:spcBef>
                <a:spcPts val="0"/>
              </a:spcBef>
              <a:spcAft>
                <a:spcPts val="0"/>
              </a:spcAft>
              <a:buNone/>
            </a:pPr>
            <a:r>
              <a:rPr lang="en-US">
                <a:latin typeface="Comfortaa"/>
                <a:ea typeface="Comfortaa"/>
                <a:cs typeface="Comfortaa"/>
                <a:sym typeface="Comfortaa"/>
              </a:rPr>
              <a:t>TF-IDF, ou ou Frequência do Termo – Frequência Inversa do Documento, é uma estatística numérica que visa refletir a importância de uma palavra em um documento. Embora seja outro método baseado em frequência, não é tão simplista quanto o Bag of Words.</a:t>
            </a:r>
            <a:endParaRPr>
              <a:latin typeface="Comfortaa"/>
              <a:ea typeface="Comfortaa"/>
              <a:cs typeface="Comfortaa"/>
              <a:sym typeface="Comfortaa"/>
            </a:endParaRPr>
          </a:p>
          <a:p>
            <a:pPr indent="0" lvl="0" marL="0" rtl="0" algn="ctr">
              <a:spcBef>
                <a:spcPts val="0"/>
              </a:spcBef>
              <a:spcAft>
                <a:spcPts val="0"/>
              </a:spcAft>
              <a:buNone/>
            </a:pPr>
            <a:r>
              <a:rPr lang="en-US" sz="2139">
                <a:solidFill>
                  <a:srgbClr val="EB5757"/>
                </a:solidFill>
                <a:latin typeface="Comfortaa"/>
                <a:ea typeface="Comfortaa"/>
                <a:cs typeface="Comfortaa"/>
                <a:sym typeface="Comfortaa"/>
              </a:rPr>
              <a:t>TF-IDF = TF * IDF</a:t>
            </a:r>
            <a:endParaRPr sz="3189">
              <a:latin typeface="Comfortaa"/>
              <a:ea typeface="Comfortaa"/>
              <a:cs typeface="Comfortaa"/>
              <a:sym typeface="Comfortaa"/>
            </a:endParaRPr>
          </a:p>
        </p:txBody>
      </p:sp>
      <p:pic>
        <p:nvPicPr>
          <p:cNvPr id="244" name="Google Shape;244;g3a39b102941_1_110"/>
          <p:cNvPicPr preferRelativeResize="0"/>
          <p:nvPr/>
        </p:nvPicPr>
        <p:blipFill>
          <a:blip r:embed="rId3">
            <a:alphaModFix/>
          </a:blip>
          <a:stretch>
            <a:fillRect/>
          </a:stretch>
        </p:blipFill>
        <p:spPr>
          <a:xfrm>
            <a:off x="4000200" y="1269150"/>
            <a:ext cx="5727699" cy="3762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a5539bd192_0_53"/>
          <p:cNvSpPr txBox="1"/>
          <p:nvPr>
            <p:ph type="title"/>
          </p:nvPr>
        </p:nvSpPr>
        <p:spPr>
          <a:xfrm>
            <a:off x="343303" y="490077"/>
            <a:ext cx="9384600" cy="6306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TF X IDF</a:t>
            </a:r>
            <a:endParaRPr/>
          </a:p>
        </p:txBody>
      </p:sp>
      <p:sp>
        <p:nvSpPr>
          <p:cNvPr id="250" name="Google Shape;250;g3a5539bd192_0_53"/>
          <p:cNvSpPr txBox="1"/>
          <p:nvPr>
            <p:ph idx="1" type="body"/>
          </p:nvPr>
        </p:nvSpPr>
        <p:spPr>
          <a:xfrm>
            <a:off x="343303" y="1269145"/>
            <a:ext cx="44055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000">
                <a:latin typeface="Comfortaa"/>
                <a:ea typeface="Comfortaa"/>
                <a:cs typeface="Comfortaa"/>
                <a:sym typeface="Comfortaa"/>
              </a:rPr>
              <a:t>TF, pode ser entendido como uma pontuação de frequência normalizada. É calculado através da seguinte fórmula:</a:t>
            </a:r>
            <a:endParaRPr sz="2000">
              <a:latin typeface="Comfortaa"/>
              <a:ea typeface="Comfortaa"/>
              <a:cs typeface="Comfortaa"/>
              <a:sym typeface="Comfortaa"/>
            </a:endParaRPr>
          </a:p>
          <a:p>
            <a:pPr indent="0" lvl="0" marL="0" rtl="0" algn="ctr">
              <a:spcBef>
                <a:spcPts val="0"/>
              </a:spcBef>
              <a:spcAft>
                <a:spcPts val="0"/>
              </a:spcAft>
              <a:buNone/>
            </a:pPr>
            <a:r>
              <a:t/>
            </a:r>
            <a:endParaRPr sz="2000">
              <a:latin typeface="Comfortaa"/>
              <a:ea typeface="Comfortaa"/>
              <a:cs typeface="Comfortaa"/>
              <a:sym typeface="Comfortaa"/>
            </a:endParaRPr>
          </a:p>
          <a:p>
            <a:pPr indent="0" lvl="0" marL="0" rtl="0" algn="ctr">
              <a:spcBef>
                <a:spcPts val="0"/>
              </a:spcBef>
              <a:spcAft>
                <a:spcPts val="0"/>
              </a:spcAft>
              <a:buNone/>
            </a:pPr>
            <a:r>
              <a:rPr lang="en-US" sz="2000">
                <a:solidFill>
                  <a:srgbClr val="EB5757"/>
                </a:solidFill>
                <a:latin typeface="Comfortaa"/>
                <a:ea typeface="Comfortaa"/>
                <a:cs typeface="Comfortaa"/>
                <a:sym typeface="Comfortaa"/>
              </a:rPr>
              <a:t>TF = Frequência de uma palavra no documento / Número total de palavras no documento</a:t>
            </a:r>
            <a:endParaRPr sz="2000">
              <a:latin typeface="Comfortaa"/>
              <a:ea typeface="Comfortaa"/>
              <a:cs typeface="Comfortaa"/>
              <a:sym typeface="Comfortaa"/>
            </a:endParaRPr>
          </a:p>
        </p:txBody>
      </p:sp>
      <p:sp>
        <p:nvSpPr>
          <p:cNvPr id="251" name="Google Shape;251;g3a5539bd192_0_53"/>
          <p:cNvSpPr txBox="1"/>
          <p:nvPr>
            <p:ph idx="2" type="body"/>
          </p:nvPr>
        </p:nvSpPr>
        <p:spPr>
          <a:xfrm>
            <a:off x="5322352" y="1269145"/>
            <a:ext cx="44055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sz="2000">
                <a:latin typeface="Comfortaa"/>
                <a:ea typeface="Comfortaa"/>
                <a:cs typeface="Comfortaa"/>
                <a:sym typeface="Comfortaa"/>
              </a:rPr>
              <a:t>IDF significa Frequência Inversa de Documentos, mas antes de falarmos sobre IDF, precisamos entender o que é DF – Frequência de Documentos. IDF, é o inverso da Frequência do Documento, e a pontuação final do IDF.</a:t>
            </a:r>
            <a:endParaRPr sz="2000">
              <a:latin typeface="Comfortaa"/>
              <a:ea typeface="Comfortaa"/>
              <a:cs typeface="Comfortaa"/>
              <a:sym typeface="Comfortaa"/>
            </a:endParaRPr>
          </a:p>
          <a:p>
            <a:pPr indent="0" lvl="0" marL="0" rtl="0" algn="ctr">
              <a:spcBef>
                <a:spcPts val="0"/>
              </a:spcBef>
              <a:spcAft>
                <a:spcPts val="0"/>
              </a:spcAft>
              <a:buNone/>
            </a:pPr>
            <a:r>
              <a:t/>
            </a:r>
            <a:endParaRPr sz="2000">
              <a:latin typeface="Comfortaa"/>
              <a:ea typeface="Comfortaa"/>
              <a:cs typeface="Comfortaa"/>
              <a:sym typeface="Comfortaa"/>
            </a:endParaRPr>
          </a:p>
          <a:p>
            <a:pPr indent="0" lvl="0" marL="0" rtl="0" algn="ctr">
              <a:spcBef>
                <a:spcPts val="0"/>
              </a:spcBef>
              <a:spcAft>
                <a:spcPts val="0"/>
              </a:spcAft>
              <a:buNone/>
            </a:pPr>
            <a:r>
              <a:rPr lang="en-US" sz="1950">
                <a:solidFill>
                  <a:srgbClr val="EB5757"/>
                </a:solidFill>
                <a:latin typeface="Comfortaa"/>
                <a:ea typeface="Comfortaa"/>
                <a:cs typeface="Comfortaa"/>
                <a:sym typeface="Comfortaa"/>
              </a:rPr>
              <a:t>IDF = log(Número total de documentos / Documentos contendo a palavra</a:t>
            </a:r>
            <a:endParaRPr sz="3000">
              <a:latin typeface="Comfortaa"/>
              <a:ea typeface="Comfortaa"/>
              <a:cs typeface="Comfortaa"/>
              <a:sym typeface="Comforta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39b102941_1_135"/>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latin typeface="Comfortaa Medium"/>
                <a:ea typeface="Comfortaa Medium"/>
                <a:cs typeface="Comfortaa Medium"/>
                <a:sym typeface="Comfortaa Medium"/>
              </a:rPr>
              <a:t>Introdução a LLM e ML para Análise de Sentimentos</a:t>
            </a:r>
            <a:endParaRPr>
              <a:latin typeface="Comfortaa Medium"/>
              <a:ea typeface="Comfortaa Medium"/>
              <a:cs typeface="Comfortaa Medium"/>
              <a:sym typeface="Comfortaa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a39b102941_1_139"/>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SzPct val="36803"/>
              <a:buNone/>
            </a:pPr>
            <a:r>
              <a:rPr lang="en-US" sz="2690">
                <a:solidFill>
                  <a:schemeClr val="accent4"/>
                </a:solidFill>
                <a:latin typeface="Cinzel"/>
                <a:ea typeface="Cinzel"/>
                <a:cs typeface="Cinzel"/>
                <a:sym typeface="Cinzel"/>
              </a:rPr>
              <a:t>LLM </a:t>
            </a:r>
            <a:r>
              <a:rPr lang="en-US" sz="2690">
                <a:solidFill>
                  <a:schemeClr val="lt2"/>
                </a:solidFill>
                <a:latin typeface="Cinzel"/>
                <a:ea typeface="Cinzel"/>
                <a:cs typeface="Cinzel"/>
                <a:sym typeface="Cinzel"/>
              </a:rPr>
              <a:t>|</a:t>
            </a:r>
            <a:r>
              <a:rPr lang="en-US" sz="2690">
                <a:latin typeface="Cinzel"/>
                <a:ea typeface="Cinzel"/>
                <a:cs typeface="Cinzel"/>
                <a:sym typeface="Cinzel"/>
              </a:rPr>
              <a:t> Comparação com técnicas simples/tradicionais</a:t>
            </a:r>
            <a:endParaRPr sz="2690">
              <a:latin typeface="Cinzel"/>
              <a:ea typeface="Cinzel"/>
              <a:cs typeface="Cinzel"/>
              <a:sym typeface="Cinzel"/>
            </a:endParaRPr>
          </a:p>
        </p:txBody>
      </p:sp>
      <p:graphicFrame>
        <p:nvGraphicFramePr>
          <p:cNvPr id="262" name="Google Shape;262;g3a39b102941_1_139"/>
          <p:cNvGraphicFramePr/>
          <p:nvPr/>
        </p:nvGraphicFramePr>
        <p:xfrm>
          <a:off x="343238" y="1539338"/>
          <a:ext cx="3000000" cy="3000000"/>
        </p:xfrm>
        <a:graphic>
          <a:graphicData uri="http://schemas.openxmlformats.org/drawingml/2006/table">
            <a:tbl>
              <a:tblPr>
                <a:noFill/>
                <a:tableStyleId>{94E93906-3FA2-46CB-AEBB-E21ABF86EF40}</a:tableStyleId>
              </a:tblPr>
              <a:tblGrid>
                <a:gridCol w="1876925"/>
                <a:gridCol w="1876925"/>
                <a:gridCol w="1876925"/>
                <a:gridCol w="1876925"/>
                <a:gridCol w="1876925"/>
              </a:tblGrid>
              <a:tr h="618350">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Técnica</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Base</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Contexto</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Precisão Emocional</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Exemplo</a:t>
                      </a:r>
                      <a:endParaRPr b="1" i="1"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NLTK</a:t>
                      </a:r>
                      <a:endParaRPr sz="2000">
                        <a:solidFill>
                          <a:schemeClr val="lt2"/>
                        </a:solidFill>
                        <a:latin typeface="Comfortaa"/>
                        <a:ea typeface="Comfortaa"/>
                        <a:cs typeface="Comfortaa"/>
                        <a:sym typeface="Comfortaa"/>
                      </a:endParaRPr>
                    </a:p>
                    <a:p>
                      <a:pPr indent="0" lvl="0" marL="0" rtl="0" algn="ctr">
                        <a:spcBef>
                          <a:spcPts val="0"/>
                        </a:spcBef>
                        <a:spcAft>
                          <a:spcPts val="0"/>
                        </a:spcAft>
                        <a:buNone/>
                      </a:pPr>
                      <a:r>
                        <a:rPr lang="en-US" sz="2000">
                          <a:solidFill>
                            <a:schemeClr val="lt2"/>
                          </a:solidFill>
                          <a:latin typeface="Comfortaa"/>
                          <a:ea typeface="Comfortaa"/>
                          <a:cs typeface="Comfortaa"/>
                          <a:sym typeface="Comfortaa"/>
                        </a:rPr>
                        <a:t>TextBlob</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Léxica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Baixo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Média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“ótimo” = positivo</a:t>
                      </a:r>
                      <a:endParaRPr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BERT</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Pré-treinado em textos massivos</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“ótimo” + </a:t>
                      </a:r>
                      <a:r>
                        <a:rPr lang="en-US" sz="2000">
                          <a:solidFill>
                            <a:schemeClr val="lt2"/>
                          </a:solidFill>
                          <a:latin typeface="Comfortaa"/>
                          <a:ea typeface="Comfortaa"/>
                          <a:cs typeface="Comfortaa"/>
                          <a:sym typeface="Comfortaa"/>
                        </a:rPr>
                        <a:t>contexto</a:t>
                      </a:r>
                      <a:endParaRPr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GPT</a:t>
                      </a:r>
                      <a:endParaRPr sz="2000">
                        <a:solidFill>
                          <a:schemeClr val="lt2"/>
                        </a:solidFill>
                        <a:latin typeface="Comfortaa"/>
                        <a:ea typeface="Comfortaa"/>
                        <a:cs typeface="Comfortaa"/>
                        <a:sym typeface="Comfortaa"/>
                      </a:endParaRPr>
                    </a:p>
                    <a:p>
                      <a:pPr indent="0" lvl="0" marL="0" rtl="0" algn="ctr">
                        <a:spcBef>
                          <a:spcPts val="0"/>
                        </a:spcBef>
                        <a:spcAft>
                          <a:spcPts val="0"/>
                        </a:spcAft>
                        <a:buNone/>
                      </a:pPr>
                      <a:r>
                        <a:rPr lang="en-US" sz="2000">
                          <a:solidFill>
                            <a:schemeClr val="lt2"/>
                          </a:solidFill>
                          <a:latin typeface="Comfortaa"/>
                          <a:ea typeface="Comfortaa"/>
                          <a:cs typeface="Comfortaa"/>
                          <a:sym typeface="Comfortaa"/>
                        </a:rPr>
                        <a:t>BLOOM Falcon</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Linguagem completa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Muito Alto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Altíssima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Entende sarcasmo e nuances</a:t>
                      </a:r>
                      <a:endParaRPr sz="2000">
                        <a:solidFill>
                          <a:schemeClr val="lt2"/>
                        </a:solidFill>
                        <a:latin typeface="Comfortaa"/>
                        <a:ea typeface="Comfortaa"/>
                        <a:cs typeface="Comfortaa"/>
                        <a:sym typeface="Comfortaa"/>
                      </a:endParaRPr>
                    </a:p>
                  </a:txBody>
                  <a:tcPr marT="91425" marB="91425" marR="91425" marL="91425"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a39b102941_1_14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LLM e ML </a:t>
            </a:r>
            <a:r>
              <a:rPr lang="en-US" sz="2690">
                <a:solidFill>
                  <a:schemeClr val="lt2"/>
                </a:solidFill>
                <a:latin typeface="Cinzel"/>
                <a:ea typeface="Cinzel"/>
                <a:cs typeface="Cinzel"/>
                <a:sym typeface="Cinzel"/>
              </a:rPr>
              <a:t>|</a:t>
            </a:r>
            <a:r>
              <a:rPr lang="en-US" sz="2690">
                <a:latin typeface="Cinzel"/>
                <a:ea typeface="Cinzel"/>
                <a:cs typeface="Cinzel"/>
                <a:sym typeface="Cinzel"/>
              </a:rPr>
              <a:t> Relação LLM e Ml</a:t>
            </a:r>
            <a:endParaRPr sz="2690">
              <a:latin typeface="Cinzel"/>
              <a:ea typeface="Cinzel"/>
              <a:cs typeface="Cinzel"/>
              <a:sym typeface="Cinzel"/>
            </a:endParaRPr>
          </a:p>
        </p:txBody>
      </p:sp>
      <p:sp>
        <p:nvSpPr>
          <p:cNvPr id="268" name="Google Shape;268;g3a39b102941_1_144"/>
          <p:cNvSpPr txBox="1"/>
          <p:nvPr>
            <p:ph idx="1" type="body"/>
          </p:nvPr>
        </p:nvSpPr>
        <p:spPr>
          <a:xfrm>
            <a:off x="343301" y="1269150"/>
            <a:ext cx="51363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sz="2100">
                <a:latin typeface="Comfortaa"/>
                <a:ea typeface="Comfortaa"/>
                <a:cs typeface="Comfortaa"/>
                <a:sym typeface="Comfortaa"/>
              </a:rPr>
              <a:t>Os LLMs são um subconjunto especializado do ML. Enquanto o ML é um campo vasto da inteligência artificial que abrange diversos algoritmos e modelos para aprender com dados, os LLMs focam especificamente na compreensão e geração de linguagem humana em larga escala.</a:t>
            </a:r>
            <a:endParaRPr sz="2100">
              <a:latin typeface="Comfortaa"/>
              <a:ea typeface="Comfortaa"/>
              <a:cs typeface="Comfortaa"/>
              <a:sym typeface="Comfortaa"/>
            </a:endParaRPr>
          </a:p>
        </p:txBody>
      </p:sp>
      <p:pic>
        <p:nvPicPr>
          <p:cNvPr id="269" name="Google Shape;269;g3a39b102941_1_144"/>
          <p:cNvPicPr preferRelativeResize="0"/>
          <p:nvPr/>
        </p:nvPicPr>
        <p:blipFill>
          <a:blip r:embed="rId3">
            <a:alphaModFix/>
          </a:blip>
          <a:stretch>
            <a:fillRect/>
          </a:stretch>
        </p:blipFill>
        <p:spPr>
          <a:xfrm>
            <a:off x="5479600" y="1269150"/>
            <a:ext cx="4248301" cy="3762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a39b102941_1_169"/>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Laboratório Prático</a:t>
            </a:r>
            <a:endParaRPr>
              <a:latin typeface="Comfortaa Medium"/>
              <a:ea typeface="Comfortaa Medium"/>
              <a:cs typeface="Comfortaa Medium"/>
              <a:sym typeface="Comfortaa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a39b102941_1_173"/>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sz="2690">
                <a:solidFill>
                  <a:schemeClr val="accent4"/>
                </a:solidFill>
                <a:latin typeface="Cinzel"/>
                <a:ea typeface="Cinzel"/>
                <a:cs typeface="Cinzel"/>
                <a:sym typeface="Cinzel"/>
              </a:rPr>
              <a:t>Laboratório prático</a:t>
            </a:r>
            <a:r>
              <a:rPr lang="en-US" sz="2690">
                <a:solidFill>
                  <a:schemeClr val="accent4"/>
                </a:solidFill>
                <a:latin typeface="Cinzel"/>
                <a:ea typeface="Cinzel"/>
                <a:cs typeface="Cinzel"/>
                <a:sym typeface="Cinzel"/>
              </a:rPr>
              <a:t> </a:t>
            </a:r>
            <a:r>
              <a:rPr lang="en-US" sz="2690">
                <a:solidFill>
                  <a:schemeClr val="lt2"/>
                </a:solidFill>
                <a:latin typeface="Cinzel"/>
                <a:ea typeface="Cinzel"/>
                <a:cs typeface="Cinzel"/>
                <a:sym typeface="Cinzel"/>
              </a:rPr>
              <a:t>|</a:t>
            </a:r>
            <a:r>
              <a:rPr lang="en-US" sz="2690">
                <a:latin typeface="Cinzel"/>
                <a:ea typeface="Cinzel"/>
                <a:cs typeface="Cinzel"/>
                <a:sym typeface="Cinzel"/>
              </a:rPr>
              <a:t> Arquitetura Base</a:t>
            </a:r>
            <a:endParaRPr sz="2690">
              <a:latin typeface="Cinzel"/>
              <a:ea typeface="Cinzel"/>
              <a:cs typeface="Cinzel"/>
              <a:sym typeface="Cinzel"/>
            </a:endParaRPr>
          </a:p>
          <a:p>
            <a:pPr indent="0" lvl="0" marL="0" rtl="0" algn="l">
              <a:spcBef>
                <a:spcPts val="0"/>
              </a:spcBef>
              <a:spcAft>
                <a:spcPts val="0"/>
              </a:spcAft>
              <a:buNone/>
            </a:pPr>
            <a:r>
              <a:t/>
            </a:r>
            <a:endParaRPr/>
          </a:p>
        </p:txBody>
      </p:sp>
      <p:sp>
        <p:nvSpPr>
          <p:cNvPr id="280" name="Google Shape;280;g3a39b102941_1_173"/>
          <p:cNvSpPr txBox="1"/>
          <p:nvPr>
            <p:ph idx="1" type="body"/>
          </p:nvPr>
        </p:nvSpPr>
        <p:spPr>
          <a:xfrm>
            <a:off x="343301" y="1269150"/>
            <a:ext cx="9384600" cy="3762300"/>
          </a:xfrm>
          <a:prstGeom prst="rect">
            <a:avLst/>
          </a:prstGeom>
        </p:spPr>
        <p:txBody>
          <a:bodyPr anchorCtr="0" anchor="t" bIns="100700" lIns="100700" spcFirstLastPara="1" rIns="100700" wrap="square" tIns="100700">
            <a:normAutofit/>
          </a:bodyPr>
          <a:lstStyle/>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Pré-Processamento (PLN Tradicional): </a:t>
            </a:r>
            <a:r>
              <a:rPr lang="en-US" sz="2000">
                <a:latin typeface="Comfortaa"/>
                <a:ea typeface="Comfortaa"/>
                <a:cs typeface="Comfortaa"/>
                <a:sym typeface="Comfortaa"/>
              </a:rPr>
              <a:t>Aqui acontecem as transformações rápidas e baratas. Porque as LLMs funcionam muito melhor quando o texto está limpo e </a:t>
            </a:r>
            <a:r>
              <a:rPr lang="en-US" sz="2000">
                <a:latin typeface="Comfortaa"/>
                <a:ea typeface="Comfortaa"/>
                <a:cs typeface="Comfortaa"/>
                <a:sym typeface="Comfortaa"/>
              </a:rPr>
              <a:t>padronizado</a:t>
            </a:r>
            <a:r>
              <a:rPr lang="en-US" sz="2000">
                <a:latin typeface="Comfortaa"/>
                <a:ea typeface="Comfortaa"/>
                <a:cs typeface="Comfortaa"/>
                <a:sym typeface="Comfortaa"/>
              </a:rPr>
              <a:t>.</a:t>
            </a:r>
            <a:endParaRPr sz="2000">
              <a:latin typeface="Comfortaa"/>
              <a:ea typeface="Comfortaa"/>
              <a:cs typeface="Comfortaa"/>
              <a:sym typeface="Comfortaa"/>
            </a:endParaRPr>
          </a:p>
          <a:p>
            <a:pPr indent="0" lvl="0" marL="457200" rtl="0" algn="l">
              <a:spcBef>
                <a:spcPts val="0"/>
              </a:spcBef>
              <a:spcAft>
                <a:spcPts val="0"/>
              </a:spcAft>
              <a:buNone/>
            </a:pPr>
            <a:r>
              <a:t/>
            </a:r>
            <a:endParaRPr b="1" sz="2000">
              <a:latin typeface="Comfortaa"/>
              <a:ea typeface="Comfortaa"/>
              <a:cs typeface="Comfortaa"/>
              <a:sym typeface="Comfortaa"/>
            </a:endParaRPr>
          </a:p>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Análise Leve (PLN Clássico): </a:t>
            </a:r>
            <a:r>
              <a:rPr lang="en-US" sz="2000">
                <a:latin typeface="Comfortaa"/>
                <a:ea typeface="Comfortaa"/>
                <a:cs typeface="Comfortaa"/>
                <a:sym typeface="Comfortaa"/>
              </a:rPr>
              <a:t>Aqui usamos técnicas rápidas para uma primeira classificação, sendo uma classificação inicial positiva, negativa e neutra.</a:t>
            </a:r>
            <a:endParaRPr sz="2000">
              <a:latin typeface="Comfortaa"/>
              <a:ea typeface="Comfortaa"/>
              <a:cs typeface="Comfortaa"/>
              <a:sym typeface="Comfortaa"/>
            </a:endParaRPr>
          </a:p>
          <a:p>
            <a:pPr indent="0" lvl="0" marL="457200" rtl="0" algn="l">
              <a:spcBef>
                <a:spcPts val="0"/>
              </a:spcBef>
              <a:spcAft>
                <a:spcPts val="0"/>
              </a:spcAft>
              <a:buNone/>
            </a:pPr>
            <a:r>
              <a:t/>
            </a:r>
            <a:endParaRPr b="1" sz="2000">
              <a:latin typeface="Comfortaa"/>
              <a:ea typeface="Comfortaa"/>
              <a:cs typeface="Comfortaa"/>
              <a:sym typeface="Comfortaa"/>
            </a:endParaRPr>
          </a:p>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Análise Avançada (LLM): </a:t>
            </a:r>
            <a:r>
              <a:rPr lang="en-US" sz="2000">
                <a:latin typeface="Comfortaa"/>
                <a:ea typeface="Comfortaa"/>
                <a:cs typeface="Comfortaa"/>
                <a:sym typeface="Comfortaa"/>
              </a:rPr>
              <a:t>Usamos modelos grandes para analisar apenas os textos </a:t>
            </a:r>
            <a:r>
              <a:rPr lang="en-US" sz="2000">
                <a:latin typeface="Comfortaa"/>
                <a:ea typeface="Comfortaa"/>
                <a:cs typeface="Comfortaa"/>
                <a:sym typeface="Comfortaa"/>
              </a:rPr>
              <a:t>difíceis</a:t>
            </a:r>
            <a:r>
              <a:rPr lang="en-US" sz="2000">
                <a:latin typeface="Comfortaa"/>
                <a:ea typeface="Comfortaa"/>
                <a:cs typeface="Comfortaa"/>
                <a:sym typeface="Comfortaa"/>
              </a:rPr>
              <a:t> e gerar a classificação.</a:t>
            </a:r>
            <a:endParaRPr sz="2000">
              <a:latin typeface="Comfortaa"/>
              <a:ea typeface="Comfortaa"/>
              <a:cs typeface="Comfortaa"/>
              <a:sym typeface="Comforta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a39b102941_1_184"/>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Avaliações e boas práticas</a:t>
            </a:r>
            <a:endParaRPr>
              <a:latin typeface="Comfortaa Medium"/>
              <a:ea typeface="Comfortaa Medium"/>
              <a:cs typeface="Comfortaa Medium"/>
              <a:sym typeface="Comfortaa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a39b102941_1_18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Avaliação </a:t>
            </a:r>
            <a:r>
              <a:rPr lang="en-US" sz="2690">
                <a:solidFill>
                  <a:schemeClr val="lt2"/>
                </a:solidFill>
                <a:latin typeface="Cinzel"/>
                <a:ea typeface="Cinzel"/>
                <a:cs typeface="Cinzel"/>
                <a:sym typeface="Cinzel"/>
              </a:rPr>
              <a:t>|</a:t>
            </a:r>
            <a:r>
              <a:rPr lang="en-US" sz="2690">
                <a:latin typeface="Cinzel"/>
                <a:ea typeface="Cinzel"/>
                <a:cs typeface="Cinzel"/>
                <a:sym typeface="Cinzel"/>
              </a:rPr>
              <a:t> Desempenho do sistema</a:t>
            </a:r>
            <a:endParaRPr sz="2690">
              <a:latin typeface="Cinzel"/>
              <a:ea typeface="Cinzel"/>
              <a:cs typeface="Cinzel"/>
              <a:sym typeface="Cinzel"/>
            </a:endParaRPr>
          </a:p>
        </p:txBody>
      </p:sp>
      <p:sp>
        <p:nvSpPr>
          <p:cNvPr id="291" name="Google Shape;291;g3a39b102941_1_188"/>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10000"/>
          </a:bodyPr>
          <a:lstStyle/>
          <a:p>
            <a:pPr indent="0" lvl="0" marL="0" rtl="0" algn="ctr">
              <a:spcBef>
                <a:spcPts val="0"/>
              </a:spcBef>
              <a:spcAft>
                <a:spcPts val="0"/>
              </a:spcAft>
              <a:buNone/>
            </a:pPr>
            <a:r>
              <a:rPr lang="en-US">
                <a:latin typeface="Comfortaa"/>
                <a:ea typeface="Comfortaa"/>
                <a:cs typeface="Comfortaa"/>
                <a:sym typeface="Comfortaa"/>
              </a:rPr>
              <a:t>Nós iremos possuir algumas métricas para conferir o desempenho de um sistema, sendo elas::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Acurácia: Taxa de acertos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Precisão: Confiabilidade das previsões positivas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Recall: Cobertura dos casos </a:t>
            </a:r>
            <a:r>
              <a:rPr lang="en-US">
                <a:latin typeface="Comfortaa"/>
                <a:ea typeface="Comfortaa"/>
                <a:cs typeface="Comfortaa"/>
                <a:sym typeface="Comfortaa"/>
              </a:rPr>
              <a:t>positivos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F1-Score: Balanço entre previsão e recall</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Tempo médio de inferência: Rapidez do modelo</a:t>
            </a:r>
            <a:endParaRPr>
              <a:latin typeface="Comfortaa"/>
              <a:ea typeface="Comfortaa"/>
              <a:cs typeface="Comfortaa"/>
              <a:sym typeface="Comforta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a39b102941_1_193"/>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Avaliação </a:t>
            </a:r>
            <a:r>
              <a:rPr lang="en-US" sz="2690">
                <a:solidFill>
                  <a:schemeClr val="lt2"/>
                </a:solidFill>
                <a:latin typeface="Cinzel"/>
                <a:ea typeface="Cinzel"/>
                <a:cs typeface="Cinzel"/>
                <a:sym typeface="Cinzel"/>
              </a:rPr>
              <a:t>|</a:t>
            </a:r>
            <a:r>
              <a:rPr lang="en-US" sz="2690">
                <a:latin typeface="Cinzel"/>
                <a:ea typeface="Cinzel"/>
                <a:cs typeface="Cinzel"/>
                <a:sym typeface="Cinzel"/>
              </a:rPr>
              <a:t> Custos e Limitações</a:t>
            </a:r>
            <a:endParaRPr sz="2690">
              <a:latin typeface="Cinzel"/>
              <a:ea typeface="Cinzel"/>
              <a:cs typeface="Cinzel"/>
              <a:sym typeface="Cinzel"/>
            </a:endParaRPr>
          </a:p>
        </p:txBody>
      </p:sp>
      <p:sp>
        <p:nvSpPr>
          <p:cNvPr id="297" name="Google Shape;297;g3a39b102941_1_193"/>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Quando estamos falando sobre utilizar LLMs de grandes empresas como OpenIA, iremos possuir um custo considerável que pode custar de US$ 0,03 a US$ 0,12 por 1k de tokens, quando nos colocamos isso em uma ideia de que vamos possuir uma aplicação rodando 24/7 podemos ter um custo considerável ao utilizar LLMs de grandes empresas.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Porém quando pensamos em utilizar LLMs abertas entramos no víes das limitações, onde modelos como BERT ou BLOOM precisam de GPUs com pelo menos 8GB de VRAM e existem modelos como o BLOOM-176B que podem chegar a ocupar mais de 350GB no armazenamento do computador.</a:t>
            </a:r>
            <a:endParaRPr>
              <a:latin typeface="Comfortaa"/>
              <a:ea typeface="Comfortaa"/>
              <a:cs typeface="Comfortaa"/>
              <a:sym typeface="Comforta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a39b102941_1_19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Boas Práticas</a:t>
            </a:r>
            <a:r>
              <a:rPr lang="en-US" sz="2690">
                <a:solidFill>
                  <a:schemeClr val="accent4"/>
                </a:solidFill>
                <a:latin typeface="Cinzel"/>
                <a:ea typeface="Cinzel"/>
                <a:cs typeface="Cinzel"/>
                <a:sym typeface="Cinzel"/>
              </a:rPr>
              <a:t> </a:t>
            </a:r>
            <a:r>
              <a:rPr lang="en-US" sz="2690">
                <a:solidFill>
                  <a:schemeClr val="lt2"/>
                </a:solidFill>
                <a:latin typeface="Cinzel"/>
                <a:ea typeface="Cinzel"/>
                <a:cs typeface="Cinzel"/>
                <a:sym typeface="Cinzel"/>
              </a:rPr>
              <a:t>|</a:t>
            </a:r>
            <a:r>
              <a:rPr lang="en-US" sz="2690">
                <a:latin typeface="Cinzel"/>
                <a:ea typeface="Cinzel"/>
                <a:cs typeface="Cinzel"/>
                <a:sym typeface="Cinzel"/>
              </a:rPr>
              <a:t> Boas Práticas</a:t>
            </a:r>
            <a:endParaRPr sz="2690">
              <a:latin typeface="Cinzel"/>
              <a:ea typeface="Cinzel"/>
              <a:cs typeface="Cinzel"/>
              <a:sym typeface="Cinzel"/>
            </a:endParaRPr>
          </a:p>
        </p:txBody>
      </p:sp>
      <p:sp>
        <p:nvSpPr>
          <p:cNvPr id="303" name="Google Shape;303;g3a39b102941_1_198"/>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200">
                <a:latin typeface="Comfortaa"/>
                <a:ea typeface="Comfortaa"/>
                <a:cs typeface="Comfortaa"/>
                <a:sym typeface="Comfortaa"/>
              </a:rPr>
              <a:t>Podemos separar as boas práticas em 6 partes principais, cada um sendo uma área que iremos trabalhar, sendo elas:</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Qualidade e Preparação de Dados</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Monitoramento de Vieses</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Documentação e Rastreabilidade</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Otimização com prompt engineering</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Engajamento com a comunidade</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Ciclo de melhoria contínua</a:t>
            </a:r>
            <a:endParaRPr sz="2200">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39b102941_1_203"/>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Discussão e Q&amp;A</a:t>
            </a:r>
            <a:endParaRPr>
              <a:latin typeface="Comfortaa Medium"/>
              <a:ea typeface="Comfortaa Medium"/>
              <a:cs typeface="Comfortaa Medium"/>
              <a:sym typeface="Comfortaa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39b102941_1_211"/>
          <p:cNvSpPr txBox="1"/>
          <p:nvPr>
            <p:ph type="title"/>
          </p:nvPr>
        </p:nvSpPr>
        <p:spPr>
          <a:xfrm>
            <a:off x="343299" y="611850"/>
            <a:ext cx="4228800" cy="832200"/>
          </a:xfrm>
          <a:prstGeom prst="rect">
            <a:avLst/>
          </a:prstGeom>
          <a:solidFill>
            <a:schemeClr val="accent4"/>
          </a:solidFill>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latin typeface="Cinzel"/>
                <a:ea typeface="Cinzel"/>
                <a:cs typeface="Cinzel"/>
                <a:sym typeface="Cinzel"/>
              </a:rPr>
              <a:t>Ficamos por aqui!</a:t>
            </a:r>
            <a:endParaRPr>
              <a:latin typeface="Cinzel"/>
              <a:ea typeface="Cinzel"/>
              <a:cs typeface="Cinzel"/>
              <a:sym typeface="Cinzel"/>
            </a:endParaRPr>
          </a:p>
          <a:p>
            <a:pPr indent="0" lvl="0" marL="0" rtl="0" algn="ctr">
              <a:spcBef>
                <a:spcPts val="0"/>
              </a:spcBef>
              <a:spcAft>
                <a:spcPts val="0"/>
              </a:spcAft>
              <a:buNone/>
            </a:pPr>
            <a:r>
              <a:rPr lang="en-US">
                <a:latin typeface="Cinzel"/>
                <a:ea typeface="Cinzel"/>
                <a:cs typeface="Cinzel"/>
                <a:sym typeface="Cinzel"/>
              </a:rPr>
              <a:t>QUalquer dúvida:</a:t>
            </a:r>
            <a:endParaRPr>
              <a:latin typeface="Cinzel"/>
              <a:ea typeface="Cinzel"/>
              <a:cs typeface="Cinzel"/>
              <a:sym typeface="Cinzel"/>
            </a:endParaRPr>
          </a:p>
        </p:txBody>
      </p:sp>
      <p:sp>
        <p:nvSpPr>
          <p:cNvPr id="314" name="Google Shape;314;g3a39b102941_1_211"/>
          <p:cNvSpPr txBox="1"/>
          <p:nvPr>
            <p:ph idx="1" type="body"/>
          </p:nvPr>
        </p:nvSpPr>
        <p:spPr>
          <a:xfrm>
            <a:off x="343299" y="1530275"/>
            <a:ext cx="4228800" cy="35013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sz="1900">
                <a:latin typeface="Comfortaa"/>
                <a:ea typeface="Comfortaa"/>
                <a:cs typeface="Comfortaa"/>
                <a:sym typeface="Comfortaa"/>
              </a:rPr>
              <a:t>(31) 99998-1418</a:t>
            </a:r>
            <a:endParaRPr sz="1900">
              <a:latin typeface="Comfortaa"/>
              <a:ea typeface="Comfortaa"/>
              <a:cs typeface="Comfortaa"/>
              <a:sym typeface="Comfortaa"/>
            </a:endParaRPr>
          </a:p>
          <a:p>
            <a:pPr indent="0" lvl="0" marL="0" rtl="0" algn="ctr">
              <a:spcBef>
                <a:spcPts val="0"/>
              </a:spcBef>
              <a:spcAft>
                <a:spcPts val="0"/>
              </a:spcAft>
              <a:buNone/>
            </a:pPr>
            <a:r>
              <a:t/>
            </a:r>
            <a:endParaRPr sz="1900">
              <a:latin typeface="Comfortaa"/>
              <a:ea typeface="Comfortaa"/>
              <a:cs typeface="Comfortaa"/>
              <a:sym typeface="Comfortaa"/>
            </a:endParaRPr>
          </a:p>
          <a:p>
            <a:pPr indent="0" lvl="0" marL="0" rtl="0" algn="ctr">
              <a:spcBef>
                <a:spcPts val="0"/>
              </a:spcBef>
              <a:spcAft>
                <a:spcPts val="0"/>
              </a:spcAft>
              <a:buNone/>
            </a:pPr>
            <a:r>
              <a:rPr lang="en-US" sz="1900" u="sng">
                <a:solidFill>
                  <a:schemeClr val="hlink"/>
                </a:solidFill>
                <a:latin typeface="Comfortaa"/>
                <a:ea typeface="Comfortaa"/>
                <a:cs typeface="Comfortaa"/>
                <a:sym typeface="Comfortaa"/>
                <a:hlinkClick r:id="rId3"/>
              </a:rPr>
              <a:t>bernardocmfgomes@gmail.com</a:t>
            </a:r>
            <a:endParaRPr sz="1900">
              <a:latin typeface="Comfortaa"/>
              <a:ea typeface="Comfortaa"/>
              <a:cs typeface="Comfortaa"/>
              <a:sym typeface="Comfortaa"/>
            </a:endParaRPr>
          </a:p>
          <a:p>
            <a:pPr indent="0" lvl="0" marL="0" rtl="0" algn="ctr">
              <a:spcBef>
                <a:spcPts val="0"/>
              </a:spcBef>
              <a:spcAft>
                <a:spcPts val="0"/>
              </a:spcAft>
              <a:buNone/>
            </a:pPr>
            <a:r>
              <a:t/>
            </a:r>
            <a:endParaRPr sz="1900">
              <a:latin typeface="Comfortaa"/>
              <a:ea typeface="Comfortaa"/>
              <a:cs typeface="Comfortaa"/>
              <a:sym typeface="Comfortaa"/>
            </a:endParaRPr>
          </a:p>
          <a:p>
            <a:pPr indent="0" lvl="0" marL="0" rtl="0" algn="ctr">
              <a:spcBef>
                <a:spcPts val="0"/>
              </a:spcBef>
              <a:spcAft>
                <a:spcPts val="0"/>
              </a:spcAft>
              <a:buNone/>
            </a:pPr>
            <a:r>
              <a:rPr lang="en-US" sz="1900">
                <a:latin typeface="Roboto Mono"/>
                <a:ea typeface="Roboto Mono"/>
                <a:cs typeface="Roboto Mono"/>
                <a:sym typeface="Roboto Mono"/>
              </a:rPr>
              <a:t>@bernardocastro___</a:t>
            </a:r>
            <a:endParaRPr sz="1900">
              <a:latin typeface="Roboto Mono"/>
              <a:ea typeface="Roboto Mono"/>
              <a:cs typeface="Roboto Mono"/>
              <a:sym typeface="Roboto Mono"/>
            </a:endParaRPr>
          </a:p>
          <a:p>
            <a:pPr indent="0" lvl="0" marL="0" rtl="0" algn="ctr">
              <a:spcBef>
                <a:spcPts val="0"/>
              </a:spcBef>
              <a:spcAft>
                <a:spcPts val="0"/>
              </a:spcAft>
              <a:buNone/>
            </a:pPr>
            <a:r>
              <a:rPr lang="en-US" sz="1900">
                <a:latin typeface="Roboto Mono"/>
                <a:ea typeface="Roboto Mono"/>
                <a:cs typeface="Roboto Mono"/>
                <a:sym typeface="Roboto Mono"/>
              </a:rPr>
              <a:t>@bernardoodev</a:t>
            </a:r>
            <a:endParaRPr sz="1900">
              <a:latin typeface="Roboto Mono"/>
              <a:ea typeface="Roboto Mono"/>
              <a:cs typeface="Roboto Mono"/>
              <a:sym typeface="Roboto Mono"/>
            </a:endParaRPr>
          </a:p>
        </p:txBody>
      </p:sp>
      <p:pic>
        <p:nvPicPr>
          <p:cNvPr id="315" name="Google Shape;315;g3a39b102941_1_211" title="bernardodev.png"/>
          <p:cNvPicPr preferRelativeResize="0"/>
          <p:nvPr/>
        </p:nvPicPr>
        <p:blipFill>
          <a:blip r:embed="rId4">
            <a:alphaModFix/>
          </a:blip>
          <a:stretch>
            <a:fillRect/>
          </a:stretch>
        </p:blipFill>
        <p:spPr>
          <a:xfrm>
            <a:off x="4724499" y="152400"/>
            <a:ext cx="5194200" cy="5194200"/>
          </a:xfrm>
          <a:prstGeom prst="rect">
            <a:avLst/>
          </a:prstGeom>
          <a:noFill/>
          <a:ln>
            <a:noFill/>
          </a:ln>
        </p:spPr>
      </p:pic>
      <p:sp>
        <p:nvSpPr>
          <p:cNvPr id="316" name="Google Shape;316;g3a39b102941_1_211"/>
          <p:cNvSpPr/>
          <p:nvPr/>
        </p:nvSpPr>
        <p:spPr>
          <a:xfrm>
            <a:off x="4740075" y="231025"/>
            <a:ext cx="5138400" cy="511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7" name="Google Shape;317;g3a39b102941_1_211" title="bernardodev.png"/>
          <p:cNvPicPr preferRelativeResize="0"/>
          <p:nvPr/>
        </p:nvPicPr>
        <p:blipFill>
          <a:blip r:embed="rId4">
            <a:alphaModFix/>
          </a:blip>
          <a:stretch>
            <a:fillRect/>
          </a:stretch>
        </p:blipFill>
        <p:spPr>
          <a:xfrm>
            <a:off x="4763800" y="231025"/>
            <a:ext cx="5115600" cy="5115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